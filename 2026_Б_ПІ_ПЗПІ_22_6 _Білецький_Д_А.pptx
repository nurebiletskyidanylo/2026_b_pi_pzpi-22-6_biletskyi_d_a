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5" r:id="rId1"/>
  </p:sldMasterIdLst>
  <p:notesMasterIdLst>
    <p:notesMasterId r:id="rId18"/>
  </p:notesMasterIdLst>
  <p:handoutMasterIdLst>
    <p:handoutMasterId r:id="rId19"/>
  </p:handoutMasterIdLst>
  <p:sldIdLst>
    <p:sldId id="256" r:id="rId2"/>
    <p:sldId id="270" r:id="rId3"/>
    <p:sldId id="313" r:id="rId4"/>
    <p:sldId id="314" r:id="rId5"/>
    <p:sldId id="315" r:id="rId6"/>
    <p:sldId id="323" r:id="rId7"/>
    <p:sldId id="316" r:id="rId8"/>
    <p:sldId id="318" r:id="rId9"/>
    <p:sldId id="317" r:id="rId10"/>
    <p:sldId id="324" r:id="rId11"/>
    <p:sldId id="325" r:id="rId12"/>
    <p:sldId id="326" r:id="rId13"/>
    <p:sldId id="319" r:id="rId14"/>
    <p:sldId id="321" r:id="rId15"/>
    <p:sldId id="320" r:id="rId16"/>
    <p:sldId id="322" r:id="rId17"/>
  </p:sldIdLst>
  <p:sldSz cx="9144000" cy="5143500" type="screen16x9"/>
  <p:notesSz cx="6858000" cy="9144000"/>
  <p:embeddedFontLst>
    <p:embeddedFont>
      <p:font typeface="Commissioner" panose="020B0604020202020204" charset="0"/>
      <p:regular r:id="rId20"/>
      <p:bold r:id="rId21"/>
    </p:embeddedFont>
    <p:embeddedFont>
      <p:font typeface="Golos Text" panose="020B0604020202020204" charset="0"/>
      <p:regular r:id="rId22"/>
      <p:bold r:id="rId23"/>
    </p:embeddedFont>
    <p:embeddedFont>
      <p:font typeface="Golos Text SemiBold" panose="020B0604020202020204" charset="0"/>
      <p:regular r:id="rId24"/>
      <p:bold r:id="rId25"/>
    </p:embeddedFont>
    <p:embeddedFont>
      <p:font typeface="Montserrat SemiBold" panose="00000700000000000000" pitchFamily="2" charset="0"/>
      <p:bold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1414"/>
    <a:srgbClr val="F1852B"/>
    <a:srgbClr val="ED4141"/>
    <a:srgbClr val="FF6B6B"/>
    <a:srgbClr val="FFC000"/>
    <a:srgbClr val="66FF66"/>
    <a:srgbClr val="2F5597"/>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86130F-D0DE-4052-9F81-2F2F56536741}">
  <a:tblStyle styleId="{3886130F-D0DE-4052-9F81-2F2F565367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74" d="100"/>
          <a:sy n="174" d="100"/>
        </p:scale>
        <p:origin x="130" y="101"/>
      </p:cViewPr>
      <p:guideLst/>
    </p:cSldViewPr>
  </p:slideViewPr>
  <p:notesTextViewPr>
    <p:cViewPr>
      <p:scale>
        <a:sx n="1" d="1"/>
        <a:sy n="1" d="1"/>
      </p:scale>
      <p:origin x="0" y="0"/>
    </p:cViewPr>
  </p:notesTextViewPr>
  <p:notesViewPr>
    <p:cSldViewPr snapToGrid="0">
      <p:cViewPr varScale="1">
        <p:scale>
          <a:sx n="106" d="100"/>
          <a:sy n="106" d="100"/>
        </p:scale>
        <p:origin x="3806"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a:extLst>
              <a:ext uri="{FF2B5EF4-FFF2-40B4-BE49-F238E27FC236}">
                <a16:creationId xmlns:a16="http://schemas.microsoft.com/office/drawing/2014/main" id="{2FD005CB-2238-08B7-15BF-DBC9EB3BAC8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Місце для дати 2">
            <a:extLst>
              <a:ext uri="{FF2B5EF4-FFF2-40B4-BE49-F238E27FC236}">
                <a16:creationId xmlns:a16="http://schemas.microsoft.com/office/drawing/2014/main" id="{CCFE885A-559E-7959-70B1-2BCBEB50B5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2A2EA8-CCF3-4970-A9AA-9997681C9ECA}" type="datetimeFigureOut">
              <a:rPr lang="en-US" smtClean="0"/>
              <a:t>7/2/2026</a:t>
            </a:fld>
            <a:endParaRPr lang="en-US" dirty="0"/>
          </a:p>
        </p:txBody>
      </p:sp>
      <p:sp>
        <p:nvSpPr>
          <p:cNvPr id="4" name="Місце для нижнього колонтитула 3">
            <a:extLst>
              <a:ext uri="{FF2B5EF4-FFF2-40B4-BE49-F238E27FC236}">
                <a16:creationId xmlns:a16="http://schemas.microsoft.com/office/drawing/2014/main" id="{516A3A5A-4872-8CDA-2E06-F0F570B64D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Місце для номера слайда 4">
            <a:extLst>
              <a:ext uri="{FF2B5EF4-FFF2-40B4-BE49-F238E27FC236}">
                <a16:creationId xmlns:a16="http://schemas.microsoft.com/office/drawing/2014/main" id="{8C5D2AC7-63D1-D92F-5AB3-769DBE06D6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A7CB10-6D8B-40FC-8DD0-F5B6315DBBEE}" type="slidenum">
              <a:rPr lang="en-US" smtClean="0"/>
              <a:t>‹№›</a:t>
            </a:fld>
            <a:endParaRPr lang="en-US" dirty="0"/>
          </a:p>
        </p:txBody>
      </p:sp>
    </p:spTree>
    <p:extLst>
      <p:ext uri="{BB962C8B-B14F-4D97-AF65-F5344CB8AC3E}">
        <p14:creationId xmlns:p14="http://schemas.microsoft.com/office/powerpoint/2010/main" val="22883059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747bfd1ed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747bfd1ed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ru-RU" dirty="0">
                <a:latin typeface="Times New Roman" panose="02020603050405020304" pitchFamily="18" charset="0"/>
                <a:cs typeface="Times New Roman" panose="02020603050405020304" pitchFamily="18" charset="0"/>
              </a:rPr>
              <a:t>Актуальність роботи обумовлена такими факторами:</a:t>
            </a:r>
          </a:p>
          <a:p>
            <a:pPr marL="285750" lvl="0" indent="-285750" algn="l" rtl="0">
              <a:spcBef>
                <a:spcPts val="0"/>
              </a:spcBef>
              <a:spcAft>
                <a:spcPts val="0"/>
              </a:spcAft>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Зростанням ролі соціальних платформ як основного засобу обміну інформацією, спілкування та формування спільнот у сучасному суспільстві</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Потребою у створенні альтернатив існуючим глобальним соціальним мережам, що належать великим технологічним корпораціям з орієнтацю на європейські підходи до прозорості, захисту персональних даних та цифрової незалежності</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Необхідністю вдосконалення систем рекомендацій для подолання проблеми одноманітного контенту та формування більш різноманітної інформаційної стрічки</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Популярністю персоналізованого контенту та використання технологій штучного інтелекту для підвищення якості користувацького досвіду.</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9076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779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2667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5851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62311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7325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167f2aa4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3167f2aa4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068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014550"/>
            <a:ext cx="5602200" cy="2219700"/>
          </a:xfrm>
          <a:prstGeom prst="rect">
            <a:avLst/>
          </a:prstGeom>
        </p:spPr>
        <p:txBody>
          <a:bodyPr spcFirstLastPara="1" wrap="square" lIns="91425" tIns="91425" rIns="91425" bIns="91425" anchor="b" anchorCtr="0">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a:endParaRPr/>
          </a:p>
        </p:txBody>
      </p:sp>
      <p:sp>
        <p:nvSpPr>
          <p:cNvPr id="10" name="Google Shape;10;p2"/>
          <p:cNvSpPr txBox="1">
            <a:spLocks noGrp="1"/>
          </p:cNvSpPr>
          <p:nvPr>
            <p:ph type="subTitle" idx="1"/>
          </p:nvPr>
        </p:nvSpPr>
        <p:spPr>
          <a:xfrm>
            <a:off x="713225" y="3315975"/>
            <a:ext cx="5602200" cy="7266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11" name="Google Shape;11;p2"/>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 name="Google Shape;12;p2"/>
          <p:cNvGrpSpPr/>
          <p:nvPr/>
        </p:nvGrpSpPr>
        <p:grpSpPr>
          <a:xfrm>
            <a:off x="-55375" y="539500"/>
            <a:ext cx="9199350" cy="4604000"/>
            <a:chOff x="-55375" y="539500"/>
            <a:chExt cx="9199350" cy="4604000"/>
          </a:xfrm>
        </p:grpSpPr>
        <p:cxnSp>
          <p:nvCxnSpPr>
            <p:cNvPr id="13" name="Google Shape;13;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
        <p:nvSpPr>
          <p:cNvPr id="2" name="Місце для нижнього колонтитула 1">
            <a:extLst>
              <a:ext uri="{FF2B5EF4-FFF2-40B4-BE49-F238E27FC236}">
                <a16:creationId xmlns:a16="http://schemas.microsoft.com/office/drawing/2014/main" id="{6C7A816A-2690-4A19-A8FB-14212DDC4797}"/>
              </a:ext>
            </a:extLst>
          </p:cNvPr>
          <p:cNvSpPr>
            <a:spLocks noGrp="1"/>
          </p:cNvSpPr>
          <p:nvPr>
            <p:ph type="ftr" sz="quarter" idx="10"/>
          </p:nvPr>
        </p:nvSpPr>
        <p:spPr>
          <a:xfrm>
            <a:off x="3822455" y="4688132"/>
            <a:ext cx="1499089" cy="310295"/>
          </a:xfrm>
        </p:spPr>
        <p:txBody>
          <a:bodyPr/>
          <a:lstStyle/>
          <a:p>
            <a:endParaRPr lang="en-US" dirty="0"/>
          </a:p>
        </p:txBody>
      </p:sp>
      <p:sp>
        <p:nvSpPr>
          <p:cNvPr id="3" name="Місце для номера слайда 2">
            <a:extLst>
              <a:ext uri="{FF2B5EF4-FFF2-40B4-BE49-F238E27FC236}">
                <a16:creationId xmlns:a16="http://schemas.microsoft.com/office/drawing/2014/main" id="{5F93815C-F23B-9401-BE0D-BC34897AEF4A}"/>
              </a:ext>
            </a:extLst>
          </p:cNvPr>
          <p:cNvSpPr>
            <a:spLocks noGrp="1"/>
          </p:cNvSpPr>
          <p:nvPr>
            <p:ph type="sldNum" sz="quarter" idx="4"/>
          </p:nvPr>
        </p:nvSpPr>
        <p:spPr>
          <a:xfrm>
            <a:off x="6035919" y="4723790"/>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A671A442-F593-47BC-B30B-7A4E30DC514C}"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6"/>
        <p:cNvGrpSpPr/>
        <p:nvPr/>
      </p:nvGrpSpPr>
      <p:grpSpPr>
        <a:xfrm>
          <a:off x="0" y="0"/>
          <a:ext cx="0" cy="0"/>
          <a:chOff x="0" y="0"/>
          <a:chExt cx="0" cy="0"/>
        </a:xfrm>
      </p:grpSpPr>
      <p:sp>
        <p:nvSpPr>
          <p:cNvPr id="2" name="Місце для нижнього колонтитула 1">
            <a:extLst>
              <a:ext uri="{FF2B5EF4-FFF2-40B4-BE49-F238E27FC236}">
                <a16:creationId xmlns:a16="http://schemas.microsoft.com/office/drawing/2014/main" id="{045B248C-65F0-875F-BB4B-5A7C9A6BCEF0}"/>
              </a:ext>
            </a:extLst>
          </p:cNvPr>
          <p:cNvSpPr>
            <a:spLocks noGrp="1"/>
          </p:cNvSpPr>
          <p:nvPr>
            <p:ph type="ftr" sz="quarter" idx="10"/>
          </p:nvPr>
        </p:nvSpPr>
        <p:spPr>
          <a:xfrm>
            <a:off x="3831248" y="4652963"/>
            <a:ext cx="1481504" cy="301502"/>
          </a:xfrm>
        </p:spPr>
        <p:txBody>
          <a:bodyPr/>
          <a:lstStyle/>
          <a:p>
            <a:endParaRPr lang="en-US" dirty="0"/>
          </a:p>
        </p:txBody>
      </p:sp>
      <p:sp>
        <p:nvSpPr>
          <p:cNvPr id="3" name="Місце для номера слайда 2">
            <a:extLst>
              <a:ext uri="{FF2B5EF4-FFF2-40B4-BE49-F238E27FC236}">
                <a16:creationId xmlns:a16="http://schemas.microsoft.com/office/drawing/2014/main" id="{60DBD0BB-DFC6-CE8F-73A9-9F054257981D}"/>
              </a:ext>
            </a:extLst>
          </p:cNvPr>
          <p:cNvSpPr>
            <a:spLocks noGrp="1"/>
          </p:cNvSpPr>
          <p:nvPr>
            <p:ph type="sldNum" sz="quarter" idx="4"/>
          </p:nvPr>
        </p:nvSpPr>
        <p:spPr>
          <a:xfrm>
            <a:off x="6756888" y="46529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A671A442-F593-47BC-B30B-7A4E30DC514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41" name="Google Shape;241;p31"/>
          <p:cNvSpPr txBox="1">
            <a:spLocks noGrp="1"/>
          </p:cNvSpPr>
          <p:nvPr>
            <p:ph type="subTitle" idx="1"/>
          </p:nvPr>
        </p:nvSpPr>
        <p:spPr>
          <a:xfrm>
            <a:off x="713244"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2" name="Google Shape;242;p31"/>
          <p:cNvSpPr txBox="1">
            <a:spLocks noGrp="1"/>
          </p:cNvSpPr>
          <p:nvPr>
            <p:ph type="subTitle" idx="2"/>
          </p:nvPr>
        </p:nvSpPr>
        <p:spPr>
          <a:xfrm>
            <a:off x="713244"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3" name="Google Shape;243;p31"/>
          <p:cNvSpPr txBox="1">
            <a:spLocks noGrp="1"/>
          </p:cNvSpPr>
          <p:nvPr>
            <p:ph type="subTitle" idx="3"/>
          </p:nvPr>
        </p:nvSpPr>
        <p:spPr>
          <a:xfrm>
            <a:off x="6030456"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4" name="Google Shape;244;p31"/>
          <p:cNvSpPr txBox="1">
            <a:spLocks noGrp="1"/>
          </p:cNvSpPr>
          <p:nvPr>
            <p:ph type="subTitle" idx="4"/>
          </p:nvPr>
        </p:nvSpPr>
        <p:spPr>
          <a:xfrm>
            <a:off x="6030456"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5" name="Google Shape;245;p31"/>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6" name="Google Shape;246;p31"/>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7" name="Google Shape;247;p31"/>
          <p:cNvSpPr txBox="1">
            <a:spLocks noGrp="1"/>
          </p:cNvSpPr>
          <p:nvPr>
            <p:ph type="subTitle" idx="7"/>
          </p:nvPr>
        </p:nvSpPr>
        <p:spPr>
          <a:xfrm>
            <a:off x="713244"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48" name="Google Shape;248;p31"/>
          <p:cNvSpPr txBox="1">
            <a:spLocks noGrp="1"/>
          </p:cNvSpPr>
          <p:nvPr>
            <p:ph type="subTitle" idx="8"/>
          </p:nvPr>
        </p:nvSpPr>
        <p:spPr>
          <a:xfrm>
            <a:off x="713244"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dirty="0"/>
          </a:p>
        </p:txBody>
      </p:sp>
      <p:sp>
        <p:nvSpPr>
          <p:cNvPr id="249" name="Google Shape;249;p31"/>
          <p:cNvSpPr txBox="1">
            <a:spLocks noGrp="1"/>
          </p:cNvSpPr>
          <p:nvPr>
            <p:ph type="subTitle" idx="9"/>
          </p:nvPr>
        </p:nvSpPr>
        <p:spPr>
          <a:xfrm>
            <a:off x="3371850"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0" name="Google Shape;250;p31"/>
          <p:cNvSpPr txBox="1">
            <a:spLocks noGrp="1"/>
          </p:cNvSpPr>
          <p:nvPr>
            <p:ph type="subTitle" idx="13"/>
          </p:nvPr>
        </p:nvSpPr>
        <p:spPr>
          <a:xfrm>
            <a:off x="3371850"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1" name="Google Shape;251;p31"/>
          <p:cNvSpPr txBox="1">
            <a:spLocks noGrp="1"/>
          </p:cNvSpPr>
          <p:nvPr>
            <p:ph type="subTitle" idx="14"/>
          </p:nvPr>
        </p:nvSpPr>
        <p:spPr>
          <a:xfrm>
            <a:off x="6030456"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2" name="Google Shape;252;p31"/>
          <p:cNvSpPr txBox="1">
            <a:spLocks noGrp="1"/>
          </p:cNvSpPr>
          <p:nvPr>
            <p:ph type="subTitle" idx="15"/>
          </p:nvPr>
        </p:nvSpPr>
        <p:spPr>
          <a:xfrm>
            <a:off x="6030456"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3" name="Google Shape;253;p31"/>
          <p:cNvSpPr/>
          <p:nvPr/>
        </p:nvSpPr>
        <p:spPr>
          <a:xfrm rot="10800000" flipH="1">
            <a:off x="25"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54" name="Google Shape;254;p31"/>
          <p:cNvGrpSpPr/>
          <p:nvPr/>
        </p:nvGrpSpPr>
        <p:grpSpPr>
          <a:xfrm rot="10800000" flipH="1">
            <a:off x="141925" y="267450"/>
            <a:ext cx="9001950" cy="4876050"/>
            <a:chOff x="141900" y="-26"/>
            <a:chExt cx="9001950" cy="4876050"/>
          </a:xfrm>
        </p:grpSpPr>
        <p:cxnSp>
          <p:nvCxnSpPr>
            <p:cNvPr id="255" name="Google Shape;255;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
        <p:nvSpPr>
          <p:cNvPr id="2" name="Місце для нижнього колонтитула 1">
            <a:extLst>
              <a:ext uri="{FF2B5EF4-FFF2-40B4-BE49-F238E27FC236}">
                <a16:creationId xmlns:a16="http://schemas.microsoft.com/office/drawing/2014/main" id="{81FBE3A1-4937-E9A8-0E59-FE95C4BB746F}"/>
              </a:ext>
            </a:extLst>
          </p:cNvPr>
          <p:cNvSpPr>
            <a:spLocks noGrp="1"/>
          </p:cNvSpPr>
          <p:nvPr>
            <p:ph type="ftr" sz="quarter" idx="16"/>
          </p:nvPr>
        </p:nvSpPr>
        <p:spPr>
          <a:xfrm>
            <a:off x="4029050" y="4723790"/>
            <a:ext cx="1085850" cy="274637"/>
          </a:xfrm>
        </p:spPr>
        <p:txBody>
          <a:bodyPr/>
          <a:lstStyle/>
          <a:p>
            <a:endParaRPr lang="en-US" dirty="0"/>
          </a:p>
        </p:txBody>
      </p:sp>
      <p:sp>
        <p:nvSpPr>
          <p:cNvPr id="3" name="Місце для номера слайда 2">
            <a:extLst>
              <a:ext uri="{FF2B5EF4-FFF2-40B4-BE49-F238E27FC236}">
                <a16:creationId xmlns:a16="http://schemas.microsoft.com/office/drawing/2014/main" id="{9243DA8B-04E6-7955-5B6B-DDEA91C26C8B}"/>
              </a:ext>
            </a:extLst>
          </p:cNvPr>
          <p:cNvSpPr>
            <a:spLocks noGrp="1"/>
          </p:cNvSpPr>
          <p:nvPr>
            <p:ph type="sldNum" sz="quarter" idx="17"/>
          </p:nvPr>
        </p:nvSpPr>
        <p:spPr>
          <a:xfrm>
            <a:off x="6836019" y="4748884"/>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A671A442-F593-47BC-B30B-7A4E30DC514C}"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65"/>
        <p:cNvGrpSpPr/>
        <p:nvPr/>
      </p:nvGrpSpPr>
      <p:grpSpPr>
        <a:xfrm>
          <a:off x="0" y="0"/>
          <a:ext cx="0" cy="0"/>
          <a:chOff x="0" y="0"/>
          <a:chExt cx="0" cy="0"/>
        </a:xfrm>
      </p:grpSpPr>
      <p:cxnSp>
        <p:nvCxnSpPr>
          <p:cNvPr id="266" name="Google Shape;266;p33"/>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
        <p:nvSpPr>
          <p:cNvPr id="267" name="Google Shape;267;p33"/>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68" name="Google Shape;268;p33"/>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69" name="Google Shape;269;p33"/>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sp>
        <p:nvSpPr>
          <p:cNvPr id="2" name="Місце для нижнього колонтитула 1">
            <a:extLst>
              <a:ext uri="{FF2B5EF4-FFF2-40B4-BE49-F238E27FC236}">
                <a16:creationId xmlns:a16="http://schemas.microsoft.com/office/drawing/2014/main" id="{D55B7C5E-EC6D-AB39-8E1A-5C1B8204C5EB}"/>
              </a:ext>
            </a:extLst>
          </p:cNvPr>
          <p:cNvSpPr>
            <a:spLocks noGrp="1"/>
          </p:cNvSpPr>
          <p:nvPr>
            <p:ph type="ftr" sz="quarter" idx="10"/>
          </p:nvPr>
        </p:nvSpPr>
        <p:spPr>
          <a:xfrm>
            <a:off x="7165730" y="4575338"/>
            <a:ext cx="1134208" cy="274637"/>
          </a:xfrm>
        </p:spPr>
        <p:txBody>
          <a:body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270"/>
        <p:cNvGrpSpPr/>
        <p:nvPr/>
      </p:nvGrpSpPr>
      <p:grpSpPr>
        <a:xfrm>
          <a:off x="0" y="0"/>
          <a:ext cx="0" cy="0"/>
          <a:chOff x="0" y="0"/>
          <a:chExt cx="0" cy="0"/>
        </a:xfrm>
      </p:grpSpPr>
      <p:sp>
        <p:nvSpPr>
          <p:cNvPr id="271" name="Google Shape;271;p34"/>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72" name="Google Shape;272;p34"/>
          <p:cNvGrpSpPr/>
          <p:nvPr/>
        </p:nvGrpSpPr>
        <p:grpSpPr>
          <a:xfrm rot="10800000">
            <a:off x="0" y="363100"/>
            <a:ext cx="8860200" cy="4780400"/>
            <a:chOff x="283800" y="0"/>
            <a:chExt cx="8860200" cy="4780400"/>
          </a:xfrm>
        </p:grpSpPr>
        <p:cxnSp>
          <p:nvCxnSpPr>
            <p:cNvPr id="273" name="Google Shape;273;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74" name="Google Shape;274;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2" name="Місце для нижнього колонтитула 1">
            <a:extLst>
              <a:ext uri="{FF2B5EF4-FFF2-40B4-BE49-F238E27FC236}">
                <a16:creationId xmlns:a16="http://schemas.microsoft.com/office/drawing/2014/main" id="{C886B9EA-B241-10D6-B0FB-C34C784C061A}"/>
              </a:ext>
            </a:extLst>
          </p:cNvPr>
          <p:cNvSpPr>
            <a:spLocks noGrp="1"/>
          </p:cNvSpPr>
          <p:nvPr>
            <p:ph type="ftr" sz="quarter" idx="10"/>
          </p:nvPr>
        </p:nvSpPr>
        <p:spPr>
          <a:xfrm>
            <a:off x="7706459" y="4732093"/>
            <a:ext cx="1015510" cy="274637"/>
          </a:xfrm>
        </p:spPr>
        <p:txBody>
          <a:bodyPr/>
          <a:lstStyle/>
          <a:p>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70650"/>
            <a:ext cx="7717500" cy="549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a:p>
        </p:txBody>
      </p:sp>
      <p:sp>
        <p:nvSpPr>
          <p:cNvPr id="7" name="Google Shape;7;p1"/>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a:p>
        </p:txBody>
      </p:sp>
      <p:sp>
        <p:nvSpPr>
          <p:cNvPr id="2" name="Місце для нижнього колонтитула 1">
            <a:extLst>
              <a:ext uri="{FF2B5EF4-FFF2-40B4-BE49-F238E27FC236}">
                <a16:creationId xmlns:a16="http://schemas.microsoft.com/office/drawing/2014/main" id="{88E7CCC4-F67C-8467-7F7A-B189E54BA7EA}"/>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3" name="Місце для номера слайда 2">
            <a:extLst>
              <a:ext uri="{FF2B5EF4-FFF2-40B4-BE49-F238E27FC236}">
                <a16:creationId xmlns:a16="http://schemas.microsoft.com/office/drawing/2014/main" id="{2FE4D179-C59A-0CBC-204F-E61BCBA24EB0}"/>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A671A442-F593-47BC-B30B-7A4E30DC514C}" type="slidenum">
              <a:rPr lang="en-US" smtClean="0"/>
              <a:t>‹№›</a:t>
            </a:fld>
            <a:endParaRPr lang="en-US" dirty="0"/>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77" r:id="rId3"/>
    <p:sldLayoutId id="2147483679" r:id="rId4"/>
    <p:sldLayoutId id="2147483680"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1"/>
          <p:cNvSpPr txBox="1">
            <a:spLocks noGrp="1"/>
          </p:cNvSpPr>
          <p:nvPr>
            <p:ph type="ctrTitle"/>
          </p:nvPr>
        </p:nvSpPr>
        <p:spPr>
          <a:xfrm>
            <a:off x="713225" y="1354014"/>
            <a:ext cx="5602200" cy="137028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UA" sz="2000" dirty="0">
                <a:latin typeface="Times New Roman" panose="02020603050405020304" pitchFamily="18" charset="0"/>
                <a:cs typeface="Times New Roman" panose="02020603050405020304" pitchFamily="18" charset="0"/>
              </a:rPr>
              <a:t>Програмна платформа для соціальної взаємодії з гібридним алгоритмом рекомендацій та функціональністю контент-менеджменту і модерації</a:t>
            </a:r>
            <a:endParaRPr lang="uk-UA" sz="1600" dirty="0">
              <a:latin typeface="Times New Roman" panose="02020603050405020304" pitchFamily="18" charset="0"/>
              <a:cs typeface="Times New Roman" panose="02020603050405020304" pitchFamily="18" charset="0"/>
            </a:endParaRPr>
          </a:p>
        </p:txBody>
      </p:sp>
      <p:sp>
        <p:nvSpPr>
          <p:cNvPr id="292" name="Google Shape;292;p41"/>
          <p:cNvSpPr txBox="1">
            <a:spLocks noGrp="1"/>
          </p:cNvSpPr>
          <p:nvPr>
            <p:ph type="subTitle" idx="1"/>
          </p:nvPr>
        </p:nvSpPr>
        <p:spPr>
          <a:xfrm>
            <a:off x="713225" y="2911528"/>
            <a:ext cx="5602200" cy="7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latin typeface="Times New Roman" panose="02020603050405020304" pitchFamily="18" charset="0"/>
                <a:cs typeface="Times New Roman" panose="02020603050405020304" pitchFamily="18" charset="0"/>
              </a:rPr>
              <a:t>Білецький Данило Андрійович, ПЗПІ-22-6</a:t>
            </a:r>
          </a:p>
          <a:p>
            <a:pPr marL="0" lvl="0" indent="0" algn="l" rtl="0">
              <a:spcBef>
                <a:spcPts val="0"/>
              </a:spcBef>
              <a:spcAft>
                <a:spcPts val="0"/>
              </a:spcAft>
              <a:buNone/>
            </a:pPr>
            <a:r>
              <a:rPr lang="uk-UA" dirty="0">
                <a:latin typeface="Times New Roman" panose="02020603050405020304" pitchFamily="18" charset="0"/>
                <a:cs typeface="Times New Roman" panose="02020603050405020304" pitchFamily="18" charset="0"/>
              </a:rPr>
              <a:t>Керівник:</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доц. </a:t>
            </a:r>
            <a:r>
              <a:rPr lang="uk-UA" dirty="0">
                <a:latin typeface="Times New Roman" panose="02020603050405020304" pitchFamily="18" charset="0"/>
                <a:cs typeface="Times New Roman" panose="02020603050405020304" pitchFamily="18" charset="0"/>
              </a:rPr>
              <a:t>кафедри ПІ Шевченко Олена Леонідівна</a:t>
            </a:r>
          </a:p>
        </p:txBody>
      </p:sp>
      <p:sp>
        <p:nvSpPr>
          <p:cNvPr id="2" name="Google Shape;292;p41">
            <a:extLst>
              <a:ext uri="{FF2B5EF4-FFF2-40B4-BE49-F238E27FC236}">
                <a16:creationId xmlns:a16="http://schemas.microsoft.com/office/drawing/2014/main" id="{9979CF2D-7363-F597-8153-E0D925D831AC}"/>
              </a:ext>
            </a:extLst>
          </p:cNvPr>
          <p:cNvSpPr txBox="1">
            <a:spLocks/>
          </p:cNvSpPr>
          <p:nvPr/>
        </p:nvSpPr>
        <p:spPr>
          <a:xfrm>
            <a:off x="713225" y="3705766"/>
            <a:ext cx="1515625" cy="4310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850"/>
              <a:buFont typeface="Commissioner"/>
              <a:buNone/>
              <a:defRPr sz="1550" b="0" i="0" u="none" strike="noStrike" cap="none">
                <a:solidFill>
                  <a:schemeClr val="dk1"/>
                </a:solidFill>
                <a:latin typeface="Commissioner"/>
                <a:ea typeface="Commissioner"/>
                <a:cs typeface="Commissioner"/>
                <a:sym typeface="Commissioner"/>
              </a:defRPr>
            </a:lvl1pPr>
            <a:lvl2pPr marL="914400" marR="0" lvl="1"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2pPr>
            <a:lvl3pPr marL="1371600" marR="0" lvl="2"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3pPr>
            <a:lvl4pPr marL="1828800" marR="0" lvl="3"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4pPr>
            <a:lvl5pPr marL="2286000" marR="0" lvl="4"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5pPr>
            <a:lvl6pPr marL="2743200" marR="0" lvl="5"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6pPr>
            <a:lvl7pPr marL="3200400" marR="0" lvl="6"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7pPr>
            <a:lvl8pPr marL="3657600" marR="0" lvl="7"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8pPr>
            <a:lvl9pPr marL="4114800" marR="0" lvl="8" indent="-317500" algn="l" rtl="0">
              <a:lnSpc>
                <a:spcPct val="115000"/>
              </a:lnSpc>
              <a:spcBef>
                <a:spcPts val="0"/>
              </a:spcBef>
              <a:spcAft>
                <a:spcPts val="0"/>
              </a:spcAft>
              <a:buClr>
                <a:schemeClr val="dk1"/>
              </a:buClr>
              <a:buSzPts val="1850"/>
              <a:buFont typeface="Commissioner"/>
              <a:buNone/>
              <a:defRPr sz="1850" b="0" i="0" u="none" strike="noStrike" cap="none">
                <a:solidFill>
                  <a:schemeClr val="dk1"/>
                </a:solidFill>
                <a:latin typeface="Commissioner"/>
                <a:ea typeface="Commissioner"/>
                <a:cs typeface="Commissioner"/>
                <a:sym typeface="Commissioner"/>
              </a:defRPr>
            </a:lvl9pPr>
          </a:lstStyle>
          <a:p>
            <a:pPr marL="0" indent="0"/>
            <a:r>
              <a:rPr lang="ru-RU" dirty="0">
                <a:latin typeface="Times New Roman" panose="02020603050405020304" pitchFamily="18" charset="0"/>
                <a:cs typeface="Times New Roman" panose="02020603050405020304" pitchFamily="18" charset="0"/>
              </a:rPr>
              <a:t>10 липня 2026</a:t>
            </a:r>
          </a:p>
        </p:txBody>
      </p:sp>
      <p:pic>
        <p:nvPicPr>
          <p:cNvPr id="3" name="Google Shape;65;p13">
            <a:extLst>
              <a:ext uri="{FF2B5EF4-FFF2-40B4-BE49-F238E27FC236}">
                <a16:creationId xmlns:a16="http://schemas.microsoft.com/office/drawing/2014/main" id="{DBF4FA08-A71A-3C9E-097F-A579E39D232E}"/>
              </a:ext>
            </a:extLst>
          </p:cNvPr>
          <p:cNvPicPr preferRelativeResize="0"/>
          <p:nvPr/>
        </p:nvPicPr>
        <p:blipFill>
          <a:blip r:embed="rId3">
            <a:alphaModFix/>
          </a:blip>
          <a:stretch>
            <a:fillRect/>
          </a:stretch>
        </p:blipFill>
        <p:spPr>
          <a:xfrm>
            <a:off x="216688" y="134824"/>
            <a:ext cx="2133975" cy="389775"/>
          </a:xfrm>
          <a:prstGeom prst="rect">
            <a:avLst/>
          </a:prstGeom>
          <a:noFill/>
          <a:ln>
            <a:noFill/>
          </a:ln>
        </p:spPr>
      </p:pic>
      <p:pic>
        <p:nvPicPr>
          <p:cNvPr id="4" name="Google Shape;66;p13">
            <a:extLst>
              <a:ext uri="{FF2B5EF4-FFF2-40B4-BE49-F238E27FC236}">
                <a16:creationId xmlns:a16="http://schemas.microsoft.com/office/drawing/2014/main" id="{66349588-072A-9F19-542D-49037740545A}"/>
              </a:ext>
            </a:extLst>
          </p:cNvPr>
          <p:cNvPicPr preferRelativeResize="0"/>
          <p:nvPr/>
        </p:nvPicPr>
        <p:blipFill>
          <a:blip r:embed="rId4">
            <a:alphaModFix/>
          </a:blip>
          <a:stretch>
            <a:fillRect/>
          </a:stretch>
        </p:blipFill>
        <p:spPr>
          <a:xfrm>
            <a:off x="6484625" y="85424"/>
            <a:ext cx="1924921" cy="439175"/>
          </a:xfrm>
          <a:prstGeom prst="rect">
            <a:avLst/>
          </a:prstGeom>
          <a:noFill/>
          <a:ln>
            <a:noFill/>
          </a:ln>
        </p:spPr>
      </p:pic>
      <p:pic>
        <p:nvPicPr>
          <p:cNvPr id="5" name="Google Shape;64;p13">
            <a:extLst>
              <a:ext uri="{FF2B5EF4-FFF2-40B4-BE49-F238E27FC236}">
                <a16:creationId xmlns:a16="http://schemas.microsoft.com/office/drawing/2014/main" id="{2829D5B1-3E53-687C-3296-84B538D43A64}"/>
              </a:ext>
            </a:extLst>
          </p:cNvPr>
          <p:cNvPicPr preferRelativeResize="0"/>
          <p:nvPr/>
        </p:nvPicPr>
        <p:blipFill>
          <a:blip r:embed="rId5">
            <a:alphaModFix/>
          </a:blip>
          <a:stretch>
            <a:fillRect/>
          </a:stretch>
        </p:blipFill>
        <p:spPr>
          <a:xfrm>
            <a:off x="3798882" y="14136"/>
            <a:ext cx="862250" cy="58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7" name="Google Shape;527;p55"/>
          <p:cNvSpPr txBox="1">
            <a:spLocks noGrp="1"/>
          </p:cNvSpPr>
          <p:nvPr>
            <p:ph type="subTitle" idx="1"/>
          </p:nvPr>
        </p:nvSpPr>
        <p:spPr>
          <a:xfrm>
            <a:off x="619858" y="1519746"/>
            <a:ext cx="7583365" cy="34391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sz="1600" dirty="0">
                <a:latin typeface="Times New Roman" panose="02020603050405020304" pitchFamily="18" charset="0"/>
                <a:cs typeface="Times New Roman" panose="02020603050405020304" pitchFamily="18" charset="0"/>
              </a:rPr>
              <a:t>Розробка програмної платформи соціальної взаємодії, що забезпечує обмін контентом між користувачами, персоналізовану стрічку рекомендацій та безпечне середовище для спілкування.</a:t>
            </a:r>
          </a:p>
          <a:p>
            <a:pPr marL="0" lvl="0" indent="0" algn="l" rtl="0">
              <a:spcBef>
                <a:spcPts val="0"/>
              </a:spcBef>
              <a:spcAft>
                <a:spcPts val="0"/>
              </a:spcAft>
              <a:buNone/>
            </a:pPr>
            <a:r>
              <a:rPr lang="uk-UA" sz="1600" dirty="0">
                <a:latin typeface="Times New Roman" panose="02020603050405020304" pitchFamily="18" charset="0"/>
                <a:cs typeface="Times New Roman" panose="02020603050405020304" pitchFamily="18" charset="0"/>
              </a:rPr>
              <a:t>Актуальність роботи:</a:t>
            </a:r>
          </a:p>
          <a:p>
            <a:pPr algn="l">
              <a:buFont typeface="Arial" panose="020B0604020202020204" pitchFamily="34" charset="0"/>
              <a:buChar char="•"/>
            </a:pPr>
            <a:r>
              <a:rPr lang="az-Cyrl-AZ" dirty="0">
                <a:latin typeface="Times New Roman" panose="02020603050405020304" pitchFamily="18" charset="0"/>
                <a:cs typeface="Times New Roman" panose="02020603050405020304" pitchFamily="18" charset="0"/>
              </a:rPr>
              <a:t>Зростання ролі соціальних мереж як основного каналу отримання та поширення інформації;</a:t>
            </a:r>
          </a:p>
          <a:p>
            <a:pPr algn="l">
              <a:buFont typeface="Arial" panose="020B0604020202020204" pitchFamily="34" charset="0"/>
              <a:buChar char="•"/>
            </a:pPr>
            <a:r>
              <a:rPr lang="az-Cyrl-AZ" dirty="0">
                <a:latin typeface="Times New Roman" panose="02020603050405020304" pitchFamily="18" charset="0"/>
                <a:cs typeface="Times New Roman" panose="02020603050405020304" pitchFamily="18" charset="0"/>
              </a:rPr>
              <a:t>Потреба в альтернативах існуючим платформам великих технологічних корпорацій з орієнтацією на європейські принципи прозорості та захисту даних;</a:t>
            </a:r>
          </a:p>
          <a:p>
            <a:pPr algn="l">
              <a:buFont typeface="Arial" panose="020B0604020202020204" pitchFamily="34" charset="0"/>
              <a:buChar char="•"/>
            </a:pPr>
            <a:r>
              <a:rPr lang="az-Cyrl-AZ" dirty="0">
                <a:latin typeface="Times New Roman" panose="02020603050405020304" pitchFamily="18" charset="0"/>
                <a:cs typeface="Times New Roman" panose="02020603050405020304" pitchFamily="18" charset="0"/>
              </a:rPr>
              <a:t>Необхідність удосконалення алгоритмів рекомендацій для підвищення різноманітності контенту;</a:t>
            </a:r>
          </a:p>
          <a:p>
            <a:pPr algn="l">
              <a:buFont typeface="Arial" panose="020B0604020202020204" pitchFamily="34" charset="0"/>
              <a:buChar char="•"/>
            </a:pPr>
            <a:r>
              <a:rPr lang="az-Cyrl-AZ" dirty="0">
                <a:latin typeface="Times New Roman" panose="02020603050405020304" pitchFamily="18" charset="0"/>
                <a:cs typeface="Times New Roman" panose="02020603050405020304" pitchFamily="18" charset="0"/>
              </a:rPr>
              <a:t>Популярність персоналізованого контенту та використання технологій штучного інтелект</a:t>
            </a:r>
            <a:r>
              <a:rPr lang="uk-UA" dirty="0">
                <a:latin typeface="Times New Roman" panose="02020603050405020304" pitchFamily="18" charset="0"/>
                <a:cs typeface="Times New Roman" panose="02020603050405020304" pitchFamily="18" charset="0"/>
              </a:rPr>
              <a:t>у.</a:t>
            </a:r>
            <a:endParaRPr lang="az-Cyrl-AZ" sz="2000" dirty="0"/>
          </a:p>
          <a:p>
            <a:pPr marL="0" lvl="0" indent="0" algn="l" rtl="0">
              <a:spcBef>
                <a:spcPts val="0"/>
              </a:spcBef>
              <a:spcAft>
                <a:spcPts val="0"/>
              </a:spcAft>
              <a:buNone/>
            </a:pPr>
            <a:endParaRPr lang="ru-RU"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ru-RU" sz="1600" dirty="0">
              <a:latin typeface="Times New Roman" panose="02020603050405020304" pitchFamily="18" charset="0"/>
              <a:cs typeface="Times New Roman" panose="02020603050405020304" pitchFamily="18" charset="0"/>
            </a:endParaRPr>
          </a:p>
        </p:txBody>
      </p:sp>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p:txBody>
          <a:bodyPr/>
          <a:lstStyle/>
          <a:p>
            <a:pPr algn="l"/>
            <a:r>
              <a:rPr lang="uk-UA" dirty="0">
                <a:latin typeface="Times New Roman" panose="02020603050405020304" pitchFamily="18" charset="0"/>
                <a:cs typeface="Times New Roman" panose="02020603050405020304" pitchFamily="18" charset="0"/>
              </a:rPr>
              <a:t>Мета роботи</a:t>
            </a:r>
            <a:endParaRPr lang="en-US" dirty="0">
              <a:latin typeface="Times New Roman" panose="02020603050405020304" pitchFamily="18" charset="0"/>
              <a:cs typeface="Times New Roman" panose="02020603050405020304" pitchFamily="18" charset="0"/>
            </a:endParaRPr>
          </a:p>
        </p:txBody>
      </p:sp>
      <p:sp>
        <p:nvSpPr>
          <p:cNvPr id="2" name="Місце для номера слайда 1">
            <a:extLst>
              <a:ext uri="{FF2B5EF4-FFF2-40B4-BE49-F238E27FC236}">
                <a16:creationId xmlns:a16="http://schemas.microsoft.com/office/drawing/2014/main" id="{85E03890-562E-4E3C-79DD-C0D8FB27A730}"/>
              </a:ext>
            </a:extLst>
          </p:cNvPr>
          <p:cNvSpPr>
            <a:spLocks noGrp="1"/>
          </p:cNvSpPr>
          <p:nvPr>
            <p:ph type="sldNum" sz="quarter" idx="17"/>
          </p:nvPr>
        </p:nvSpPr>
        <p:spPr/>
        <p:txBody>
          <a:bodyPr/>
          <a:lstStyle/>
          <a:p>
            <a:fld id="{A671A442-F593-47BC-B30B-7A4E30DC514C}"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7" name="Google Shape;527;p55"/>
          <p:cNvSpPr txBox="1">
            <a:spLocks noGrp="1"/>
          </p:cNvSpPr>
          <p:nvPr>
            <p:ph type="subTitle" idx="1"/>
          </p:nvPr>
        </p:nvSpPr>
        <p:spPr>
          <a:xfrm>
            <a:off x="713225" y="1519746"/>
            <a:ext cx="7489998" cy="28939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uk-UA" dirty="0">
                <a:latin typeface="Times New Roman" panose="02020603050405020304" pitchFamily="18" charset="0"/>
                <a:cs typeface="Times New Roman" panose="02020603050405020304" pitchFamily="18" charset="0"/>
              </a:rPr>
              <a:t>Сучасні соціальні мережі стикаються з низкою проблем:</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Алгоритми рекомендацій часто формують одноманітну стрічку контенту, що призводить до інформаційних «бульбашок» та обмежує різноманітність матеріалів для користувача</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Окремі дії користувача можуть надмірно впливати на рекомендації, через що система починає показувати велику кількість схожого контенту</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Більшість популярних платформ належать обмеженому колу великих корпорацій, що зменшує конкуренцію та вибір для користувачів</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Існуючі інструменти для авторів контенту часто мають функціональні обмеження або надаються лише в межах платних підписок</a:t>
            </a:r>
            <a:r>
              <a:rPr lang="ru-RU" dirty="0">
                <a:latin typeface="Times New Roman" panose="02020603050405020304" pitchFamily="18" charset="0"/>
                <a:cs typeface="Times New Roman" panose="02020603050405020304" pitchFamily="18" charset="0"/>
              </a:rPr>
              <a:t>.</a:t>
            </a:r>
          </a:p>
        </p:txBody>
      </p:sp>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p:txBody>
          <a:bodyPr/>
          <a:lstStyle/>
          <a:p>
            <a:pPr algn="l"/>
            <a:r>
              <a:rPr lang="uk-UA" dirty="0">
                <a:latin typeface="Times New Roman" panose="02020603050405020304" pitchFamily="18" charset="0"/>
                <a:cs typeface="Times New Roman" panose="02020603050405020304" pitchFamily="18" charset="0"/>
              </a:rPr>
              <a:t>Аналіз проблеми</a:t>
            </a:r>
            <a:endParaRPr lang="en-US" dirty="0">
              <a:latin typeface="Times New Roman" panose="02020603050405020304" pitchFamily="18" charset="0"/>
              <a:cs typeface="Times New Roman" panose="02020603050405020304" pitchFamily="18" charset="0"/>
            </a:endParaRPr>
          </a:p>
        </p:txBody>
      </p:sp>
      <p:sp>
        <p:nvSpPr>
          <p:cNvPr id="2" name="Місце для номера слайда 1">
            <a:extLst>
              <a:ext uri="{FF2B5EF4-FFF2-40B4-BE49-F238E27FC236}">
                <a16:creationId xmlns:a16="http://schemas.microsoft.com/office/drawing/2014/main" id="{F3A8D404-34F2-1ECD-7713-65AB2CA75606}"/>
              </a:ext>
            </a:extLst>
          </p:cNvPr>
          <p:cNvSpPr>
            <a:spLocks noGrp="1"/>
          </p:cNvSpPr>
          <p:nvPr>
            <p:ph type="sldNum" sz="quarter" idx="17"/>
          </p:nvPr>
        </p:nvSpPr>
        <p:spPr/>
        <p:txBody>
          <a:bodyPr/>
          <a:lstStyle/>
          <a:p>
            <a:fld id="{A671A442-F593-47BC-B30B-7A4E30DC514C}" type="slidenum">
              <a:rPr lang="en-US" smtClean="0"/>
              <a:t>3</a:t>
            </a:fld>
            <a:endParaRPr lang="en-US" dirty="0"/>
          </a:p>
        </p:txBody>
      </p:sp>
    </p:spTree>
    <p:extLst>
      <p:ext uri="{BB962C8B-B14F-4D97-AF65-F5344CB8AC3E}">
        <p14:creationId xmlns:p14="http://schemas.microsoft.com/office/powerpoint/2010/main" val="1232259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p:txBody>
          <a:bodyPr/>
          <a:lstStyle/>
          <a:p>
            <a:pPr algn="l"/>
            <a:r>
              <a:rPr lang="uk-UA" dirty="0">
                <a:latin typeface="Times New Roman" panose="02020603050405020304" pitchFamily="18" charset="0"/>
                <a:cs typeface="Times New Roman" panose="02020603050405020304" pitchFamily="18" charset="0"/>
              </a:rPr>
              <a:t>Аналіз конкурентів</a:t>
            </a:r>
            <a:endParaRPr lang="en-US" dirty="0">
              <a:latin typeface="Times New Roman" panose="02020603050405020304" pitchFamily="18" charset="0"/>
              <a:cs typeface="Times New Roman" panose="02020603050405020304" pitchFamily="18" charset="0"/>
            </a:endParaRPr>
          </a:p>
        </p:txBody>
      </p:sp>
      <p:graphicFrame>
        <p:nvGraphicFramePr>
          <p:cNvPr id="4" name="Google Shape;503;p53">
            <a:extLst>
              <a:ext uri="{FF2B5EF4-FFF2-40B4-BE49-F238E27FC236}">
                <a16:creationId xmlns:a16="http://schemas.microsoft.com/office/drawing/2014/main" id="{7BF5F4D6-C6FA-6826-60C1-48CDCEC15B4A}"/>
              </a:ext>
            </a:extLst>
          </p:cNvPr>
          <p:cNvGraphicFramePr/>
          <p:nvPr>
            <p:extLst>
              <p:ext uri="{D42A27DB-BD31-4B8C-83A1-F6EECF244321}">
                <p14:modId xmlns:p14="http://schemas.microsoft.com/office/powerpoint/2010/main" val="974255647"/>
              </p:ext>
            </p:extLst>
          </p:nvPr>
        </p:nvGraphicFramePr>
        <p:xfrm>
          <a:off x="792240" y="1177537"/>
          <a:ext cx="6838551" cy="3030328"/>
        </p:xfrm>
        <a:graphic>
          <a:graphicData uri="http://schemas.openxmlformats.org/drawingml/2006/table">
            <a:tbl>
              <a:tblPr>
                <a:noFill/>
                <a:tableStyleId>{3886130F-D0DE-4052-9F81-2F2F56536741}</a:tableStyleId>
              </a:tblPr>
              <a:tblGrid>
                <a:gridCol w="3190559">
                  <a:extLst>
                    <a:ext uri="{9D8B030D-6E8A-4147-A177-3AD203B41FA5}">
                      <a16:colId xmlns:a16="http://schemas.microsoft.com/office/drawing/2014/main" val="20000"/>
                    </a:ext>
                  </a:extLst>
                </a:gridCol>
                <a:gridCol w="911998">
                  <a:extLst>
                    <a:ext uri="{9D8B030D-6E8A-4147-A177-3AD203B41FA5}">
                      <a16:colId xmlns:a16="http://schemas.microsoft.com/office/drawing/2014/main" val="20001"/>
                    </a:ext>
                  </a:extLst>
                </a:gridCol>
                <a:gridCol w="911998">
                  <a:extLst>
                    <a:ext uri="{9D8B030D-6E8A-4147-A177-3AD203B41FA5}">
                      <a16:colId xmlns:a16="http://schemas.microsoft.com/office/drawing/2014/main" val="567344102"/>
                    </a:ext>
                  </a:extLst>
                </a:gridCol>
                <a:gridCol w="835677">
                  <a:extLst>
                    <a:ext uri="{9D8B030D-6E8A-4147-A177-3AD203B41FA5}">
                      <a16:colId xmlns:a16="http://schemas.microsoft.com/office/drawing/2014/main" val="2605357967"/>
                    </a:ext>
                  </a:extLst>
                </a:gridCol>
                <a:gridCol w="988319">
                  <a:extLst>
                    <a:ext uri="{9D8B030D-6E8A-4147-A177-3AD203B41FA5}">
                      <a16:colId xmlns:a16="http://schemas.microsoft.com/office/drawing/2014/main" val="1594669036"/>
                    </a:ext>
                  </a:extLst>
                </a:gridCol>
              </a:tblGrid>
              <a:tr h="759398">
                <a:tc>
                  <a:txBody>
                    <a:bodyPr/>
                    <a:lstStyle/>
                    <a:p>
                      <a:pPr marL="0" lvl="0" indent="0" algn="ctr" rtl="0">
                        <a:lnSpc>
                          <a:spcPct val="115000"/>
                        </a:lnSpc>
                        <a:spcBef>
                          <a:spcPts val="0"/>
                        </a:spcBef>
                        <a:spcAft>
                          <a:spcPts val="0"/>
                        </a:spcAft>
                        <a:buNone/>
                      </a:pPr>
                      <a:r>
                        <a:rPr lang="uk-UA" sz="1000" dirty="0">
                          <a:solidFill>
                            <a:schemeClr val="dk1"/>
                          </a:solidFill>
                          <a:latin typeface="Golos Text"/>
                          <a:ea typeface="Golos Text"/>
                          <a:cs typeface="Golos Text"/>
                          <a:sym typeface="Golos Text"/>
                        </a:rPr>
                        <a:t>Критерій</a:t>
                      </a:r>
                      <a:endParaRPr sz="1000" dirty="0">
                        <a:solidFill>
                          <a:schemeClr val="dk1"/>
                        </a:solidFill>
                        <a:latin typeface="Golos Text"/>
                        <a:ea typeface="Golos Text"/>
                        <a:cs typeface="Golos Text"/>
                        <a:sym typeface="Golos Tex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dk2"/>
                    </a:solidFill>
                  </a:tcPr>
                </a:tc>
                <a:tc>
                  <a:txBody>
                    <a:bodyPr/>
                    <a:lstStyle/>
                    <a:p>
                      <a:pPr marL="0" lvl="0" indent="0" algn="ctr" rtl="0">
                        <a:lnSpc>
                          <a:spcPct val="115000"/>
                        </a:lnSpc>
                        <a:spcBef>
                          <a:spcPts val="0"/>
                        </a:spcBef>
                        <a:spcAft>
                          <a:spcPts val="0"/>
                        </a:spcAft>
                        <a:buNone/>
                      </a:pPr>
                      <a:endParaRPr sz="1000" dirty="0">
                        <a:solidFill>
                          <a:schemeClr val="dk1"/>
                        </a:solidFill>
                        <a:latin typeface="Golos Text"/>
                        <a:ea typeface="Golos Text"/>
                        <a:cs typeface="Golos Text"/>
                        <a:sym typeface="Golos Tex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dk2"/>
                    </a:solidFill>
                  </a:tcPr>
                </a:tc>
                <a:tc>
                  <a:txBody>
                    <a:bodyPr/>
                    <a:lstStyle/>
                    <a:p>
                      <a:pPr marL="0" lvl="0" indent="0" algn="ctr" rtl="0">
                        <a:lnSpc>
                          <a:spcPct val="115000"/>
                        </a:lnSpc>
                        <a:spcBef>
                          <a:spcPts val="0"/>
                        </a:spcBef>
                        <a:spcAft>
                          <a:spcPts val="0"/>
                        </a:spcAft>
                        <a:buNone/>
                      </a:pPr>
                      <a:endParaRPr sz="1000" dirty="0">
                        <a:solidFill>
                          <a:schemeClr val="dk1"/>
                        </a:solidFill>
                        <a:latin typeface="Golos Text"/>
                        <a:ea typeface="Golos Text"/>
                        <a:cs typeface="Golos Text"/>
                        <a:sym typeface="Golos Tex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dk2"/>
                    </a:solidFill>
                  </a:tcPr>
                </a:tc>
                <a:tc>
                  <a:txBody>
                    <a:bodyPr/>
                    <a:lstStyle/>
                    <a:p>
                      <a:pPr marL="0" lvl="0" indent="0" algn="ctr" rtl="0">
                        <a:lnSpc>
                          <a:spcPct val="115000"/>
                        </a:lnSpc>
                        <a:spcBef>
                          <a:spcPts val="0"/>
                        </a:spcBef>
                        <a:spcAft>
                          <a:spcPts val="0"/>
                        </a:spcAft>
                        <a:buNone/>
                      </a:pPr>
                      <a:endParaRPr sz="1000" dirty="0">
                        <a:solidFill>
                          <a:schemeClr val="dk1"/>
                        </a:solidFill>
                        <a:latin typeface="Golos Text"/>
                        <a:ea typeface="Golos Text"/>
                        <a:cs typeface="Golos Text"/>
                        <a:sym typeface="Golos Tex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dk2"/>
                    </a:solidFill>
                  </a:tcPr>
                </a:tc>
                <a:tc>
                  <a:txBody>
                    <a:bodyPr/>
                    <a:lstStyle/>
                    <a:p>
                      <a:pPr marL="0" lvl="0" indent="0" algn="ctr" rtl="0">
                        <a:lnSpc>
                          <a:spcPct val="115000"/>
                        </a:lnSpc>
                        <a:spcBef>
                          <a:spcPts val="0"/>
                        </a:spcBef>
                        <a:spcAft>
                          <a:spcPts val="0"/>
                        </a:spcAft>
                        <a:buNone/>
                      </a:pPr>
                      <a:r>
                        <a:rPr lang="uk-UA" sz="1000" dirty="0">
                          <a:solidFill>
                            <a:schemeClr val="dk1"/>
                          </a:solidFill>
                          <a:latin typeface="Golos Text"/>
                          <a:ea typeface="Golos Text"/>
                          <a:cs typeface="Golos Text"/>
                          <a:sym typeface="Golos Text"/>
                        </a:rPr>
                        <a:t>Розроблена платформа</a:t>
                      </a:r>
                      <a:endParaRPr sz="1000" dirty="0">
                        <a:solidFill>
                          <a:schemeClr val="dk1"/>
                        </a:solidFill>
                        <a:latin typeface="Golos Text"/>
                        <a:ea typeface="Golos Text"/>
                        <a:cs typeface="Golos Text"/>
                        <a:sym typeface="Golos Tex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dk2"/>
                    </a:solidFill>
                  </a:tcPr>
                </a:tc>
                <a:extLst>
                  <a:ext uri="{0D108BD9-81ED-4DB2-BD59-A6C34878D82A}">
                    <a16:rowId xmlns:a16="http://schemas.microsoft.com/office/drawing/2014/main" val="10000"/>
                  </a:ext>
                </a:extLst>
              </a:tr>
              <a:tr h="389575">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rPr>
                        <a:t>Персоналізовані рекомендації</a:t>
                      </a:r>
                      <a:endParaRPr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12700" cap="flat" cmpd="sng" algn="ctr">
                      <a:solidFill>
                        <a:schemeClr val="tx1"/>
                      </a:solidFill>
                      <a:prstDash val="solid"/>
                      <a:round/>
                      <a:headEnd type="none" w="med" len="med"/>
                      <a:tailEnd type="none" w="med" len="med"/>
                    </a:lnL>
                    <a:lnR w="9525" cap="flat" cmpd="sng" algn="ctr">
                      <a:solidFill>
                        <a:schemeClr val="dk1"/>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Частково</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23925">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rPr>
                        <a:t>Запобігання циклічності рекомендацій</a:t>
                      </a:r>
                      <a:endParaRPr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12700" cap="flat" cmpd="sng" algn="ctr">
                      <a:solidFill>
                        <a:schemeClr val="tx1"/>
                      </a:solidFill>
                      <a:prstDash val="solid"/>
                      <a:round/>
                      <a:headEnd type="none" w="med" len="med"/>
                      <a:tailEnd type="none" w="med" len="med"/>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Частково</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23925">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rPr>
                        <a:t>Генерація тегів за допомогою ШІ</a:t>
                      </a:r>
                      <a:endParaRPr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12700" cap="flat" cmpd="sng" algn="ctr">
                      <a:solidFill>
                        <a:schemeClr val="tx1"/>
                      </a:solidFill>
                      <a:prstDash val="solid"/>
                      <a:round/>
                      <a:headEnd type="none" w="med" len="med"/>
                      <a:tailEnd type="none" w="med" len="med"/>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23925">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rPr>
                        <a:t>Умовні публікації</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12700" cap="flat" cmpd="sng" algn="ctr">
                      <a:solidFill>
                        <a:schemeClr val="tx1"/>
                      </a:solidFill>
                      <a:prstDash val="solid"/>
                      <a:round/>
                      <a:headEnd type="none" w="med" len="med"/>
                      <a:tailEnd type="none" w="med" len="med"/>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23925">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rPr>
                        <a:t>Заплановані публікації</a:t>
                      </a:r>
                      <a:endParaRPr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Частково</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12700" cap="flat" cmpd="sng" algn="ctr">
                      <a:solidFill>
                        <a:schemeClr val="tx1"/>
                      </a:solidFill>
                      <a:prstDash val="solid"/>
                      <a:round/>
                      <a:headEnd type="none" w="med" len="med"/>
                      <a:tailEnd type="none" w="med" len="med"/>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Ні</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23925">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rPr>
                        <a:t>Система скарг та модерації</a:t>
                      </a:r>
                      <a:endParaRPr sz="1200" dirty="0">
                        <a:solidFill>
                          <a:schemeClr val="dk1"/>
                        </a:solidFill>
                        <a:latin typeface="Times New Roman" panose="02020603050405020304" pitchFamily="18" charset="0"/>
                        <a:ea typeface="Commissioner SemiBold"/>
                        <a:cs typeface="Times New Roman" panose="02020603050405020304" pitchFamily="18" charset="0"/>
                        <a:sym typeface="Commissioner SemiBold"/>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12700" cap="flat" cmpd="sng" algn="ctr">
                      <a:solidFill>
                        <a:schemeClr val="tx1"/>
                      </a:solidFill>
                      <a:prstDash val="solid"/>
                      <a:round/>
                      <a:headEnd type="none" w="med" len="med"/>
                      <a:tailEnd type="none" w="med" len="med"/>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uk-UA" sz="1200" dirty="0">
                          <a:solidFill>
                            <a:schemeClr val="dk1"/>
                          </a:solidFill>
                          <a:latin typeface="Times New Roman" panose="02020603050405020304" pitchFamily="18" charset="0"/>
                          <a:ea typeface="Commissioner"/>
                          <a:cs typeface="Times New Roman" panose="02020603050405020304" pitchFamily="18" charset="0"/>
                          <a:sym typeface="Commissioner"/>
                        </a:rPr>
                        <a:t>Так</a:t>
                      </a:r>
                      <a:endParaRPr sz="1200" dirty="0">
                        <a:solidFill>
                          <a:schemeClr val="dk1"/>
                        </a:solidFill>
                        <a:latin typeface="Times New Roman" panose="02020603050405020304" pitchFamily="18" charset="0"/>
                        <a:ea typeface="Commissioner"/>
                        <a:cs typeface="Times New Roman" panose="02020603050405020304" pitchFamily="18" charset="0"/>
                        <a:sym typeface="Commissione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 name="Місце для номера слайда 1">
            <a:extLst>
              <a:ext uri="{FF2B5EF4-FFF2-40B4-BE49-F238E27FC236}">
                <a16:creationId xmlns:a16="http://schemas.microsoft.com/office/drawing/2014/main" id="{C118DF5C-955A-0FF7-993F-91A5DABACF19}"/>
              </a:ext>
            </a:extLst>
          </p:cNvPr>
          <p:cNvSpPr>
            <a:spLocks noGrp="1"/>
          </p:cNvSpPr>
          <p:nvPr>
            <p:ph type="sldNum" sz="quarter" idx="17"/>
          </p:nvPr>
        </p:nvSpPr>
        <p:spPr/>
        <p:txBody>
          <a:bodyPr/>
          <a:lstStyle/>
          <a:p>
            <a:fld id="{A671A442-F593-47BC-B30B-7A4E30DC514C}" type="slidenum">
              <a:rPr lang="en-US" smtClean="0"/>
              <a:t>4</a:t>
            </a:fld>
            <a:endParaRPr lang="en-US" dirty="0"/>
          </a:p>
        </p:txBody>
      </p:sp>
      <p:pic>
        <p:nvPicPr>
          <p:cNvPr id="2050" name="Picture 2">
            <a:extLst>
              <a:ext uri="{FF2B5EF4-FFF2-40B4-BE49-F238E27FC236}">
                <a16:creationId xmlns:a16="http://schemas.microsoft.com/office/drawing/2014/main" id="{A36D5B8E-D8F9-DFF8-D508-CCE8E963B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5575" y="1268680"/>
            <a:ext cx="593481" cy="59348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Logo twitter x png and symbol, meaning, history, PNG, brand">
            <a:extLst>
              <a:ext uri="{FF2B5EF4-FFF2-40B4-BE49-F238E27FC236}">
                <a16:creationId xmlns:a16="http://schemas.microsoft.com/office/drawing/2014/main" id="{AA8B54DE-6F73-3B64-760D-E705761D0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0069" y="1347810"/>
            <a:ext cx="773722" cy="43521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Reddit Logo, symbol, meaning, history, PNG, brand">
            <a:extLst>
              <a:ext uri="{FF2B5EF4-FFF2-40B4-BE49-F238E27FC236}">
                <a16:creationId xmlns:a16="http://schemas.microsoft.com/office/drawing/2014/main" id="{03201351-D4DE-7103-5DF4-4AD4866DC5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8091" y="1299452"/>
            <a:ext cx="773723" cy="469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54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7" name="Google Shape;527;p55"/>
          <p:cNvSpPr txBox="1">
            <a:spLocks noGrp="1"/>
          </p:cNvSpPr>
          <p:nvPr>
            <p:ph type="subTitle" idx="1"/>
          </p:nvPr>
        </p:nvSpPr>
        <p:spPr>
          <a:xfrm>
            <a:off x="713225" y="1164146"/>
            <a:ext cx="7489998" cy="37634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uk-UA" dirty="0">
                <a:latin typeface="Times New Roman" panose="02020603050405020304" pitchFamily="18" charset="0"/>
                <a:cs typeface="Times New Roman" panose="02020603050405020304" pitchFamily="18" charset="0"/>
              </a:rPr>
              <a:t>Необхідно розробити веб-платформу для соціальної взаємодії користувачів, що забезпечує створення та поширення контенту, підписку на інших користувачів, коментування публікацій та формування персоналізованої стрічки рекомендацій.</a:t>
            </a:r>
          </a:p>
          <a:p>
            <a:pPr marL="0" lvl="0" indent="0" algn="l" rtl="0">
              <a:spcBef>
                <a:spcPts val="0"/>
              </a:spcBef>
              <a:spcAft>
                <a:spcPts val="0"/>
              </a:spcAft>
            </a:pPr>
            <a:r>
              <a:rPr lang="uk-UA" dirty="0">
                <a:latin typeface="Times New Roman" panose="02020603050405020304" pitchFamily="18" charset="0"/>
                <a:cs typeface="Times New Roman" panose="02020603050405020304" pitchFamily="18" charset="0"/>
              </a:rPr>
              <a:t>Для досягнення поставленої мети було визначено такі задачі:</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Реалізувати систему реєстрації, автентифікації та керування профілем користувача</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Забезпечити можливість створення, редагування та видалення публікацій різних типів</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Реалізувати механізм підписок, коментування та взаємодії між користувачами</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Розробити систему тегів для категоризації контенту та спрощення пошуку</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Створити систему персоналізованих рекомендацій на основі інтересів користувача</a:t>
            </a:r>
            <a:r>
              <a:rPr lang="en-US" dirty="0">
                <a:latin typeface="Times New Roman" panose="02020603050405020304" pitchFamily="18" charset="0"/>
                <a:cs typeface="Times New Roman" panose="02020603050405020304" pitchFamily="18" charset="0"/>
              </a:rPr>
              <a:t>;</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Забезпечити інтеграцію сервісів штучного інтелекту для генерації тегів та покращення рекомендацій</a:t>
            </a:r>
            <a:r>
              <a:rPr lang="en-US"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Реалізувати механізми модерації контенту</a:t>
            </a:r>
            <a:r>
              <a:rPr lang="ru-RU"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p:txBody>
          <a:bodyPr/>
          <a:lstStyle/>
          <a:p>
            <a:pPr algn="l"/>
            <a:r>
              <a:rPr lang="uk-UA" dirty="0">
                <a:latin typeface="Times New Roman" panose="02020603050405020304" pitchFamily="18" charset="0"/>
                <a:cs typeface="Times New Roman" panose="02020603050405020304" pitchFamily="18" charset="0"/>
              </a:rPr>
              <a:t>Постановка задачі</a:t>
            </a:r>
            <a:endParaRPr lang="en-US" dirty="0">
              <a:latin typeface="Times New Roman" panose="02020603050405020304" pitchFamily="18" charset="0"/>
              <a:cs typeface="Times New Roman" panose="02020603050405020304" pitchFamily="18" charset="0"/>
            </a:endParaRPr>
          </a:p>
        </p:txBody>
      </p:sp>
      <p:sp>
        <p:nvSpPr>
          <p:cNvPr id="2" name="Місце для номера слайда 1">
            <a:extLst>
              <a:ext uri="{FF2B5EF4-FFF2-40B4-BE49-F238E27FC236}">
                <a16:creationId xmlns:a16="http://schemas.microsoft.com/office/drawing/2014/main" id="{BC35943E-B355-E6CB-772C-E3367C0A0FEE}"/>
              </a:ext>
            </a:extLst>
          </p:cNvPr>
          <p:cNvSpPr>
            <a:spLocks noGrp="1"/>
          </p:cNvSpPr>
          <p:nvPr>
            <p:ph type="sldNum" sz="quarter" idx="17"/>
          </p:nvPr>
        </p:nvSpPr>
        <p:spPr/>
        <p:txBody>
          <a:bodyPr/>
          <a:lstStyle/>
          <a:p>
            <a:fld id="{A671A442-F593-47BC-B30B-7A4E30DC514C}" type="slidenum">
              <a:rPr lang="en-US" smtClean="0"/>
              <a:t>5</a:t>
            </a:fld>
            <a:endParaRPr lang="en-US" dirty="0"/>
          </a:p>
        </p:txBody>
      </p:sp>
    </p:spTree>
    <p:extLst>
      <p:ext uri="{BB962C8B-B14F-4D97-AF65-F5344CB8AC3E}">
        <p14:creationId xmlns:p14="http://schemas.microsoft.com/office/powerpoint/2010/main" val="3165795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71075" y="479185"/>
            <a:ext cx="2838867" cy="2268411"/>
          </a:xfrm>
        </p:spPr>
        <p:txBody>
          <a:bodyPr/>
          <a:lstStyle/>
          <a:p>
            <a:r>
              <a:rPr lang="en-US" dirty="0">
                <a:latin typeface="Times New Roman" panose="02020603050405020304" pitchFamily="18" charset="0"/>
                <a:cs typeface="Times New Roman" panose="02020603050405020304" pitchFamily="18" charset="0"/>
              </a:rPr>
              <a:t>Use-Case </a:t>
            </a:r>
            <a:r>
              <a:rPr lang="uk-UA" dirty="0">
                <a:latin typeface="Times New Roman" panose="02020603050405020304" pitchFamily="18" charset="0"/>
                <a:cs typeface="Times New Roman" panose="02020603050405020304" pitchFamily="18" charset="0"/>
              </a:rPr>
              <a:t>Діаграма Основних Дій Користувача</a:t>
            </a:r>
            <a:endParaRPr lang="en-US" dirty="0">
              <a:latin typeface="Times New Roman" panose="02020603050405020304" pitchFamily="18" charset="0"/>
              <a:cs typeface="Times New Roman" panose="02020603050405020304" pitchFamily="18" charset="0"/>
            </a:endParaRPr>
          </a:p>
        </p:txBody>
      </p:sp>
      <p:pic>
        <p:nvPicPr>
          <p:cNvPr id="15" name="Picture 1"/>
          <p:cNvPicPr/>
          <p:nvPr/>
        </p:nvPicPr>
        <p:blipFill>
          <a:blip r:embed="rId2"/>
          <a:stretch>
            <a:fillRect/>
          </a:stretch>
        </p:blipFill>
        <p:spPr>
          <a:xfrm>
            <a:off x="407451" y="66711"/>
            <a:ext cx="5796915" cy="4956810"/>
          </a:xfrm>
          <a:prstGeom prst="rect">
            <a:avLst/>
          </a:prstGeom>
        </p:spPr>
      </p:pic>
      <p:sp>
        <p:nvSpPr>
          <p:cNvPr id="16" name="Місце для номера слайда 15">
            <a:extLst>
              <a:ext uri="{FF2B5EF4-FFF2-40B4-BE49-F238E27FC236}">
                <a16:creationId xmlns:a16="http://schemas.microsoft.com/office/drawing/2014/main" id="{C776422F-3467-4C95-52A1-31839E768391}"/>
              </a:ext>
            </a:extLst>
          </p:cNvPr>
          <p:cNvSpPr>
            <a:spLocks noGrp="1"/>
          </p:cNvSpPr>
          <p:nvPr>
            <p:ph type="sldNum" sz="quarter" idx="17"/>
          </p:nvPr>
        </p:nvSpPr>
        <p:spPr/>
        <p:txBody>
          <a:bodyPr/>
          <a:lstStyle/>
          <a:p>
            <a:fld id="{A671A442-F593-47BC-B30B-7A4E30DC514C}" type="slidenum">
              <a:rPr lang="en-US" smtClean="0"/>
              <a:t>6</a:t>
            </a:fld>
            <a:endParaRPr lang="en-US" dirty="0"/>
          </a:p>
        </p:txBody>
      </p:sp>
    </p:spTree>
    <p:extLst>
      <p:ext uri="{BB962C8B-B14F-4D97-AF65-F5344CB8AC3E}">
        <p14:creationId xmlns:p14="http://schemas.microsoft.com/office/powerpoint/2010/main" val="449566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p:txBody>
          <a:bodyPr/>
          <a:lstStyle/>
          <a:p>
            <a:pPr algn="l"/>
            <a:r>
              <a:rPr lang="uk-UA" dirty="0">
                <a:latin typeface="Times New Roman" panose="02020603050405020304" pitchFamily="18" charset="0"/>
                <a:cs typeface="Times New Roman" panose="02020603050405020304" pitchFamily="18" charset="0"/>
              </a:rPr>
              <a:t>Використані технології</a:t>
            </a:r>
            <a:endParaRPr lang="en-US" dirty="0">
              <a:latin typeface="Times New Roman" panose="02020603050405020304" pitchFamily="18" charset="0"/>
              <a:cs typeface="Times New Roman" panose="02020603050405020304" pitchFamily="18" charset="0"/>
            </a:endParaRPr>
          </a:p>
        </p:txBody>
      </p:sp>
      <p:pic>
        <p:nvPicPr>
          <p:cNvPr id="2" name="Google Shape;188;p7">
            <a:extLst>
              <a:ext uri="{FF2B5EF4-FFF2-40B4-BE49-F238E27FC236}">
                <a16:creationId xmlns:a16="http://schemas.microsoft.com/office/drawing/2014/main" id="{919DDD26-A7F1-9424-4165-FE867C09CF9F}"/>
              </a:ext>
            </a:extLst>
          </p:cNvPr>
          <p:cNvPicPr preferRelativeResize="0"/>
          <p:nvPr/>
        </p:nvPicPr>
        <p:blipFill rotWithShape="1">
          <a:blip r:embed="rId3">
            <a:alphaModFix/>
          </a:blip>
          <a:srcRect l="15753" t="15814" r="15753" b="22816"/>
          <a:stretch/>
        </p:blipFill>
        <p:spPr>
          <a:xfrm>
            <a:off x="594344" y="1575768"/>
            <a:ext cx="1420351" cy="1151941"/>
          </a:xfrm>
          <a:prstGeom prst="rect">
            <a:avLst/>
          </a:prstGeom>
          <a:noFill/>
          <a:ln>
            <a:noFill/>
          </a:ln>
        </p:spPr>
      </p:pic>
      <p:pic>
        <p:nvPicPr>
          <p:cNvPr id="3" name="Google Shape;189;p7">
            <a:extLst>
              <a:ext uri="{FF2B5EF4-FFF2-40B4-BE49-F238E27FC236}">
                <a16:creationId xmlns:a16="http://schemas.microsoft.com/office/drawing/2014/main" id="{2DF906E9-F8ED-1346-39F7-859621D270C1}"/>
              </a:ext>
            </a:extLst>
          </p:cNvPr>
          <p:cNvPicPr preferRelativeResize="0"/>
          <p:nvPr/>
        </p:nvPicPr>
        <p:blipFill rotWithShape="1">
          <a:blip r:embed="rId4">
            <a:alphaModFix/>
          </a:blip>
          <a:srcRect/>
          <a:stretch/>
        </p:blipFill>
        <p:spPr>
          <a:xfrm>
            <a:off x="2503907" y="1641709"/>
            <a:ext cx="1002474" cy="1020057"/>
          </a:xfrm>
          <a:prstGeom prst="rect">
            <a:avLst/>
          </a:prstGeom>
          <a:noFill/>
          <a:ln>
            <a:noFill/>
          </a:ln>
        </p:spPr>
      </p:pic>
      <p:pic>
        <p:nvPicPr>
          <p:cNvPr id="4" name="Picture 2" descr="Cloudinary for Page Designer, Digital Asset Management, DAM, Image  Management, Video Management, Content Management, API | Salesforce  AppExchange">
            <a:extLst>
              <a:ext uri="{FF2B5EF4-FFF2-40B4-BE49-F238E27FC236}">
                <a16:creationId xmlns:a16="http://schemas.microsoft.com/office/drawing/2014/main" id="{41960D3A-964C-F61F-EE0C-7F3BED1723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7009" y="4033515"/>
            <a:ext cx="1074943" cy="7506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Neo4j – Wikipedia">
            <a:extLst>
              <a:ext uri="{FF2B5EF4-FFF2-40B4-BE49-F238E27FC236}">
                <a16:creationId xmlns:a16="http://schemas.microsoft.com/office/drawing/2014/main" id="{3522DC3A-C897-9E52-FA31-19A08F2064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3120" y="4121624"/>
            <a:ext cx="1158387" cy="4347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PostgreSQL | SouthEast LinuxFest">
            <a:extLst>
              <a:ext uri="{FF2B5EF4-FFF2-40B4-BE49-F238E27FC236}">
                <a16:creationId xmlns:a16="http://schemas.microsoft.com/office/drawing/2014/main" id="{7FDAB180-9612-E329-E142-F8EFB6934D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0787" y="4001460"/>
            <a:ext cx="1775000" cy="81475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Angular Agentur - Angular Partner im Raum Augsburg und München">
            <a:extLst>
              <a:ext uri="{FF2B5EF4-FFF2-40B4-BE49-F238E27FC236}">
                <a16:creationId xmlns:a16="http://schemas.microsoft.com/office/drawing/2014/main" id="{62CB0BF3-F33E-5F8D-7EE9-FDB8CE3641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4040" y="1906604"/>
            <a:ext cx="2787162" cy="8709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
            <a:extLst>
              <a:ext uri="{FF2B5EF4-FFF2-40B4-BE49-F238E27FC236}">
                <a16:creationId xmlns:a16="http://schemas.microsoft.com/office/drawing/2014/main" id="{16C8DB35-786C-47E2-2C70-5E8A08B09F27}"/>
              </a:ext>
            </a:extLst>
          </p:cNvPr>
          <p:cNvPicPr>
            <a:picLocks noChangeAspect="1"/>
          </p:cNvPicPr>
          <p:nvPr/>
        </p:nvPicPr>
        <p:blipFill>
          <a:blip r:embed="rId9"/>
          <a:stretch>
            <a:fillRect/>
          </a:stretch>
        </p:blipFill>
        <p:spPr>
          <a:xfrm>
            <a:off x="7239940" y="1953447"/>
            <a:ext cx="1710523" cy="774262"/>
          </a:xfrm>
          <a:prstGeom prst="rect">
            <a:avLst/>
          </a:prstGeom>
        </p:spPr>
      </p:pic>
      <p:pic>
        <p:nvPicPr>
          <p:cNvPr id="1026" name="Picture 2" descr="Python (programming language) - Wikipedia">
            <a:extLst>
              <a:ext uri="{FF2B5EF4-FFF2-40B4-BE49-F238E27FC236}">
                <a16:creationId xmlns:a16="http://schemas.microsoft.com/office/drawing/2014/main" id="{C6AB2C82-05D0-151B-34F7-1AE57851C8C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08597" y="3452879"/>
            <a:ext cx="1219971" cy="1219971"/>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74;p21">
            <a:extLst>
              <a:ext uri="{FF2B5EF4-FFF2-40B4-BE49-F238E27FC236}">
                <a16:creationId xmlns:a16="http://schemas.microsoft.com/office/drawing/2014/main" id="{45251884-F643-ECA3-AAA9-E1A142221FA8}"/>
              </a:ext>
            </a:extLst>
          </p:cNvPr>
          <p:cNvSpPr txBox="1"/>
          <p:nvPr/>
        </p:nvSpPr>
        <p:spPr>
          <a:xfrm>
            <a:off x="1928183" y="1080788"/>
            <a:ext cx="938388" cy="434742"/>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uk-UA"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rPr>
              <a:t>Сервер</a:t>
            </a:r>
            <a:endParaRPr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endParaRPr>
          </a:p>
        </p:txBody>
      </p:sp>
      <p:sp>
        <p:nvSpPr>
          <p:cNvPr id="10" name="Google Shape;174;p21">
            <a:extLst>
              <a:ext uri="{FF2B5EF4-FFF2-40B4-BE49-F238E27FC236}">
                <a16:creationId xmlns:a16="http://schemas.microsoft.com/office/drawing/2014/main" id="{04671B58-57D7-34D8-CF95-A486C1159BAF}"/>
              </a:ext>
            </a:extLst>
          </p:cNvPr>
          <p:cNvSpPr txBox="1"/>
          <p:nvPr/>
        </p:nvSpPr>
        <p:spPr>
          <a:xfrm>
            <a:off x="594344" y="3612168"/>
            <a:ext cx="4381064" cy="434742"/>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uk-UA"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rPr>
              <a:t>Технології та сервіси збереження даних</a:t>
            </a:r>
            <a:endParaRPr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endParaRPr>
          </a:p>
        </p:txBody>
      </p:sp>
      <p:sp>
        <p:nvSpPr>
          <p:cNvPr id="12" name="Google Shape;174;p21">
            <a:extLst>
              <a:ext uri="{FF2B5EF4-FFF2-40B4-BE49-F238E27FC236}">
                <a16:creationId xmlns:a16="http://schemas.microsoft.com/office/drawing/2014/main" id="{C043775F-C371-659E-EF81-C6E9CC970E4C}"/>
              </a:ext>
            </a:extLst>
          </p:cNvPr>
          <p:cNvSpPr txBox="1"/>
          <p:nvPr/>
        </p:nvSpPr>
        <p:spPr>
          <a:xfrm>
            <a:off x="5708597" y="2977509"/>
            <a:ext cx="3062684" cy="434742"/>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uk-UA"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rPr>
              <a:t>Сервіс машинних моделей</a:t>
            </a:r>
            <a:endParaRPr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endParaRPr>
          </a:p>
        </p:txBody>
      </p:sp>
      <p:sp>
        <p:nvSpPr>
          <p:cNvPr id="13" name="Місце для номера слайда 12">
            <a:extLst>
              <a:ext uri="{FF2B5EF4-FFF2-40B4-BE49-F238E27FC236}">
                <a16:creationId xmlns:a16="http://schemas.microsoft.com/office/drawing/2014/main" id="{8CC0FEAE-2E78-01E1-7A7C-F812A7F2E0FE}"/>
              </a:ext>
            </a:extLst>
          </p:cNvPr>
          <p:cNvSpPr>
            <a:spLocks noGrp="1"/>
          </p:cNvSpPr>
          <p:nvPr>
            <p:ph type="sldNum" sz="quarter" idx="17"/>
          </p:nvPr>
        </p:nvSpPr>
        <p:spPr/>
        <p:txBody>
          <a:bodyPr/>
          <a:lstStyle/>
          <a:p>
            <a:fld id="{A671A442-F593-47BC-B30B-7A4E30DC514C}" type="slidenum">
              <a:rPr lang="en-US" smtClean="0"/>
              <a:t>7</a:t>
            </a:fld>
            <a:endParaRPr lang="en-US" dirty="0"/>
          </a:p>
        </p:txBody>
      </p:sp>
      <p:sp>
        <p:nvSpPr>
          <p:cNvPr id="14" name="Прямокутник 13">
            <a:extLst>
              <a:ext uri="{FF2B5EF4-FFF2-40B4-BE49-F238E27FC236}">
                <a16:creationId xmlns:a16="http://schemas.microsoft.com/office/drawing/2014/main" id="{009B69EE-A192-18E1-72A1-BC3A2A692B08}"/>
              </a:ext>
            </a:extLst>
          </p:cNvPr>
          <p:cNvSpPr/>
          <p:nvPr/>
        </p:nvSpPr>
        <p:spPr>
          <a:xfrm>
            <a:off x="7113394" y="3452879"/>
            <a:ext cx="1579615" cy="523220"/>
          </a:xfrm>
          <a:prstGeom prst="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wrap="square" lIns="91440" tIns="45720" rIns="91440" bIns="45720">
            <a:spAutoFit/>
          </a:bodyPr>
          <a:lstStyle/>
          <a:p>
            <a:pPr algn="ctr"/>
            <a:r>
              <a:rPr lang="de-DE"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spaCy + </a:t>
            </a:r>
          </a:p>
          <a:p>
            <a:pPr algn="ctr"/>
            <a:r>
              <a:rPr lang="de-DE"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en_core_web_sm</a:t>
            </a:r>
            <a:endParaRPr lang="uk-UA"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1" name="Прямокутник 20">
            <a:extLst>
              <a:ext uri="{FF2B5EF4-FFF2-40B4-BE49-F238E27FC236}">
                <a16:creationId xmlns:a16="http://schemas.microsoft.com/office/drawing/2014/main" id="{E8DD68FD-5458-7D5C-5655-C774207BCD64}"/>
              </a:ext>
            </a:extLst>
          </p:cNvPr>
          <p:cNvSpPr/>
          <p:nvPr/>
        </p:nvSpPr>
        <p:spPr>
          <a:xfrm>
            <a:off x="7113395" y="4121624"/>
            <a:ext cx="1579615" cy="523220"/>
          </a:xfrm>
          <a:prstGeom prst="rect">
            <a:avLst/>
          </a:prstGeom>
          <a:ln>
            <a:solidFill>
              <a:srgbClr val="D21414"/>
            </a:solidFill>
          </a:ln>
        </p:spPr>
        <p:style>
          <a:lnRef idx="2">
            <a:schemeClr val="accent2"/>
          </a:lnRef>
          <a:fillRef idx="1">
            <a:schemeClr val="lt1"/>
          </a:fillRef>
          <a:effectRef idx="0">
            <a:schemeClr val="accent2"/>
          </a:effectRef>
          <a:fontRef idx="minor">
            <a:schemeClr val="dk1"/>
          </a:fontRef>
        </p:style>
        <p:txBody>
          <a:bodyPr wrap="square" lIns="91440" tIns="45720" rIns="91440" bIns="45720">
            <a:spAutoFit/>
          </a:bodyPr>
          <a:lstStyle/>
          <a:p>
            <a:pPr algn="ctr"/>
            <a:r>
              <a:rPr lang="de-DE"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KeyBERT + </a:t>
            </a:r>
          </a:p>
          <a:p>
            <a:pPr algn="ctr"/>
            <a:r>
              <a:rPr lang="de-DE"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all-MiniLM-L6-v2</a:t>
            </a:r>
            <a:endParaRPr lang="uk-UA"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2" name="Google Shape;174;p21">
            <a:extLst>
              <a:ext uri="{FF2B5EF4-FFF2-40B4-BE49-F238E27FC236}">
                <a16:creationId xmlns:a16="http://schemas.microsoft.com/office/drawing/2014/main" id="{33665EB1-9895-BC85-385C-A365E7BE20E3}"/>
              </a:ext>
            </a:extLst>
          </p:cNvPr>
          <p:cNvSpPr txBox="1"/>
          <p:nvPr/>
        </p:nvSpPr>
        <p:spPr>
          <a:xfrm>
            <a:off x="6459374" y="1080788"/>
            <a:ext cx="938388" cy="434742"/>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uk-UA"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rPr>
              <a:t>Клієнт</a:t>
            </a:r>
            <a:endParaRPr sz="1800" b="1" dirty="0">
              <a:solidFill>
                <a:schemeClr val="dk1"/>
              </a:solidFill>
              <a:latin typeface="Times New Roman" panose="02020603050405020304" pitchFamily="18" charset="0"/>
              <a:ea typeface="Montserrat SemiBold"/>
              <a:cs typeface="Times New Roman" panose="02020603050405020304" pitchFamily="18" charset="0"/>
              <a:sym typeface="Montserrat SemiBold"/>
            </a:endParaRPr>
          </a:p>
        </p:txBody>
      </p:sp>
    </p:spTree>
    <p:extLst>
      <p:ext uri="{BB962C8B-B14F-4D97-AF65-F5344CB8AC3E}">
        <p14:creationId xmlns:p14="http://schemas.microsoft.com/office/powerpoint/2010/main" val="3442393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a:xfrm>
            <a:off x="713250" y="194879"/>
            <a:ext cx="7717500" cy="549900"/>
          </a:xfrm>
        </p:spPr>
        <p:txBody>
          <a:bodyPr/>
          <a:lstStyle/>
          <a:p>
            <a:pPr algn="l"/>
            <a:r>
              <a:rPr lang="uk-UA" dirty="0">
                <a:latin typeface="Times New Roman" panose="02020603050405020304" pitchFamily="18" charset="0"/>
                <a:cs typeface="Times New Roman" panose="02020603050405020304" pitchFamily="18" charset="0"/>
              </a:rPr>
              <a:t>Архітектура програмної платформи</a:t>
            </a:r>
            <a:endParaRPr lang="en-US"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E1644F8E-2961-9ACD-B6B3-E12B9D1FCA92}"/>
              </a:ext>
            </a:extLst>
          </p:cNvPr>
          <p:cNvPicPr>
            <a:picLocks noChangeAspect="1"/>
          </p:cNvPicPr>
          <p:nvPr/>
        </p:nvPicPr>
        <p:blipFill>
          <a:blip r:embed="rId3"/>
          <a:stretch>
            <a:fillRect/>
          </a:stretch>
        </p:blipFill>
        <p:spPr>
          <a:xfrm>
            <a:off x="1690914" y="814892"/>
            <a:ext cx="6633029" cy="4133729"/>
          </a:xfrm>
          <a:prstGeom prst="rect">
            <a:avLst/>
          </a:prstGeom>
        </p:spPr>
      </p:pic>
      <p:sp>
        <p:nvSpPr>
          <p:cNvPr id="2" name="Місце для номера слайда 1">
            <a:extLst>
              <a:ext uri="{FF2B5EF4-FFF2-40B4-BE49-F238E27FC236}">
                <a16:creationId xmlns:a16="http://schemas.microsoft.com/office/drawing/2014/main" id="{3B7FA8EA-FD09-05FF-6837-A91F80812C23}"/>
              </a:ext>
            </a:extLst>
          </p:cNvPr>
          <p:cNvSpPr>
            <a:spLocks noGrp="1"/>
          </p:cNvSpPr>
          <p:nvPr>
            <p:ph type="sldNum" sz="quarter" idx="17"/>
          </p:nvPr>
        </p:nvSpPr>
        <p:spPr/>
        <p:txBody>
          <a:bodyPr/>
          <a:lstStyle/>
          <a:p>
            <a:fld id="{A671A442-F593-47BC-B30B-7A4E30DC514C}" type="slidenum">
              <a:rPr lang="en-US" smtClean="0"/>
              <a:t>8</a:t>
            </a:fld>
            <a:endParaRPr lang="en-US" dirty="0"/>
          </a:p>
        </p:txBody>
      </p:sp>
    </p:spTree>
    <p:extLst>
      <p:ext uri="{BB962C8B-B14F-4D97-AF65-F5344CB8AC3E}">
        <p14:creationId xmlns:p14="http://schemas.microsoft.com/office/powerpoint/2010/main" val="3358755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p:txBody>
          <a:bodyPr/>
          <a:lstStyle/>
          <a:p>
            <a:pPr algn="l"/>
            <a:r>
              <a:rPr lang="uk-UA" dirty="0">
                <a:latin typeface="Times New Roman" panose="02020603050405020304" pitchFamily="18" charset="0"/>
                <a:cs typeface="Times New Roman" panose="02020603050405020304" pitchFamily="18" charset="0"/>
              </a:rPr>
              <a:t>Архітектура серверної частини</a:t>
            </a:r>
            <a:endParaRPr lang="en-US" dirty="0">
              <a:latin typeface="Times New Roman" panose="02020603050405020304" pitchFamily="18" charset="0"/>
              <a:cs typeface="Times New Roman" panose="02020603050405020304" pitchFamily="18" charset="0"/>
            </a:endParaRPr>
          </a:p>
        </p:txBody>
      </p:sp>
      <p:pic>
        <p:nvPicPr>
          <p:cNvPr id="13" name="Picture 2" descr="Arch-image">
            <a:extLst>
              <a:ext uri="{FF2B5EF4-FFF2-40B4-BE49-F238E27FC236}">
                <a16:creationId xmlns:a16="http://schemas.microsoft.com/office/drawing/2014/main" id="{26F59C02-1759-FCD0-AC76-4597419364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1853" y="1628042"/>
            <a:ext cx="2541017" cy="329711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81800D12-21F6-C3D0-DB94-7F8C63BC4A39}"/>
              </a:ext>
            </a:extLst>
          </p:cNvPr>
          <p:cNvPicPr>
            <a:picLocks noChangeAspect="1"/>
          </p:cNvPicPr>
          <p:nvPr/>
        </p:nvPicPr>
        <p:blipFill>
          <a:blip r:embed="rId4"/>
          <a:stretch>
            <a:fillRect/>
          </a:stretch>
        </p:blipFill>
        <p:spPr>
          <a:xfrm>
            <a:off x="3178628" y="3058257"/>
            <a:ext cx="3067050" cy="1866900"/>
          </a:xfrm>
          <a:prstGeom prst="rect">
            <a:avLst/>
          </a:prstGeom>
        </p:spPr>
      </p:pic>
      <p:sp>
        <p:nvSpPr>
          <p:cNvPr id="16" name="Google Shape;174;p21">
            <a:extLst>
              <a:ext uri="{FF2B5EF4-FFF2-40B4-BE49-F238E27FC236}">
                <a16:creationId xmlns:a16="http://schemas.microsoft.com/office/drawing/2014/main" id="{13ED943B-CA34-46C7-F89B-A2D88FF2791C}"/>
              </a:ext>
            </a:extLst>
          </p:cNvPr>
          <p:cNvSpPr txBox="1"/>
          <p:nvPr/>
        </p:nvSpPr>
        <p:spPr>
          <a:xfrm>
            <a:off x="3178628" y="2532757"/>
            <a:ext cx="3470529" cy="425684"/>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US" sz="1100" dirty="0">
                <a:solidFill>
                  <a:schemeClr val="dk1"/>
                </a:solidFill>
                <a:latin typeface="Montserrat SemiBold"/>
                <a:ea typeface="Montserrat SemiBold"/>
                <a:cs typeface="Montserrat SemiBold"/>
                <a:sym typeface="Montserrat SemiBold"/>
              </a:rPr>
              <a:t>CQRS – Command Query Responsibility Segregation</a:t>
            </a:r>
            <a:endParaRPr sz="1100" dirty="0">
              <a:solidFill>
                <a:schemeClr val="dk1"/>
              </a:solidFill>
              <a:latin typeface="Montserrat SemiBold"/>
              <a:ea typeface="Montserrat SemiBold"/>
              <a:cs typeface="Montserrat SemiBold"/>
              <a:sym typeface="Montserrat SemiBold"/>
            </a:endParaRPr>
          </a:p>
        </p:txBody>
      </p:sp>
      <p:sp>
        <p:nvSpPr>
          <p:cNvPr id="17" name="Google Shape;527;p55">
            <a:extLst>
              <a:ext uri="{FF2B5EF4-FFF2-40B4-BE49-F238E27FC236}">
                <a16:creationId xmlns:a16="http://schemas.microsoft.com/office/drawing/2014/main" id="{E9AE1A4C-F700-1CE9-C5FB-88CE7927CC7C}"/>
              </a:ext>
            </a:extLst>
          </p:cNvPr>
          <p:cNvSpPr txBox="1">
            <a:spLocks noGrp="1"/>
          </p:cNvSpPr>
          <p:nvPr>
            <p:ph type="subTitle" idx="1"/>
          </p:nvPr>
        </p:nvSpPr>
        <p:spPr>
          <a:xfrm>
            <a:off x="713225" y="1439918"/>
            <a:ext cx="5793852" cy="8678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ru-RU" dirty="0">
                <a:latin typeface="Times New Roman" panose="02020603050405020304" pitchFamily="18" charset="0"/>
                <a:cs typeface="Times New Roman" panose="02020603050405020304" pitchFamily="18" charset="0"/>
              </a:rPr>
              <a:t>Серверна частина реалізована за принципами </a:t>
            </a:r>
            <a:r>
              <a:rPr lang="en-US" dirty="0">
                <a:latin typeface="Times New Roman" panose="02020603050405020304" pitchFamily="18" charset="0"/>
                <a:cs typeface="Times New Roman" panose="02020603050405020304" pitchFamily="18" charset="0"/>
              </a:rPr>
              <a:t>Clean Architecture </a:t>
            </a:r>
            <a:r>
              <a:rPr lang="ru-RU" dirty="0">
                <a:latin typeface="Times New Roman" panose="02020603050405020304" pitchFamily="18" charset="0"/>
                <a:cs typeface="Times New Roman" panose="02020603050405020304" pitchFamily="18" charset="0"/>
              </a:rPr>
              <a:t>та </a:t>
            </a:r>
            <a:r>
              <a:rPr lang="en-US" dirty="0">
                <a:latin typeface="Times New Roman" panose="02020603050405020304" pitchFamily="18" charset="0"/>
                <a:cs typeface="Times New Roman" panose="02020603050405020304" pitchFamily="18" charset="0"/>
              </a:rPr>
              <a:t>CQRS, </a:t>
            </a:r>
            <a:r>
              <a:rPr lang="ru-RU" dirty="0">
                <a:latin typeface="Times New Roman" panose="02020603050405020304" pitchFamily="18" charset="0"/>
                <a:cs typeface="Times New Roman" panose="02020603050405020304" pitchFamily="18" charset="0"/>
              </a:rPr>
              <a:t>що забезпечує масштабованість, розширюваність і розділення відповідальностей між компонентами системи</a:t>
            </a:r>
            <a:endParaRPr lang="en-US" dirty="0">
              <a:latin typeface="Times New Roman" panose="02020603050405020304" pitchFamily="18" charset="0"/>
              <a:cs typeface="Times New Roman" panose="02020603050405020304" pitchFamily="18" charset="0"/>
            </a:endParaRPr>
          </a:p>
        </p:txBody>
      </p:sp>
      <p:sp>
        <p:nvSpPr>
          <p:cNvPr id="2" name="Місце для номера слайда 1">
            <a:extLst>
              <a:ext uri="{FF2B5EF4-FFF2-40B4-BE49-F238E27FC236}">
                <a16:creationId xmlns:a16="http://schemas.microsoft.com/office/drawing/2014/main" id="{89768AFA-A512-23A3-1250-87FFE24771D9}"/>
              </a:ext>
            </a:extLst>
          </p:cNvPr>
          <p:cNvSpPr>
            <a:spLocks noGrp="1"/>
          </p:cNvSpPr>
          <p:nvPr>
            <p:ph type="sldNum" sz="quarter" idx="17"/>
          </p:nvPr>
        </p:nvSpPr>
        <p:spPr/>
        <p:txBody>
          <a:bodyPr/>
          <a:lstStyle/>
          <a:p>
            <a:fld id="{A671A442-F593-47BC-B30B-7A4E30DC514C}" type="slidenum">
              <a:rPr lang="en-US" smtClean="0"/>
              <a:t>9</a:t>
            </a:fld>
            <a:endParaRPr lang="en-US" dirty="0"/>
          </a:p>
        </p:txBody>
      </p:sp>
    </p:spTree>
    <p:extLst>
      <p:ext uri="{BB962C8B-B14F-4D97-AF65-F5344CB8AC3E}">
        <p14:creationId xmlns:p14="http://schemas.microsoft.com/office/powerpoint/2010/main" val="14810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a:latin typeface="Times New Roman" panose="02020603050405020304" pitchFamily="18" charset="0"/>
                <a:cs typeface="Times New Roman" panose="02020603050405020304" pitchFamily="18" charset="0"/>
              </a:rPr>
              <a:t>Алгоритм рекомендацій</a:t>
            </a:r>
            <a:endParaRPr lang="en-US" dirty="0">
              <a:latin typeface="Times New Roman" panose="02020603050405020304" pitchFamily="18" charset="0"/>
              <a:cs typeface="Times New Roman" panose="02020603050405020304" pitchFamily="18" charset="0"/>
            </a:endParaRPr>
          </a:p>
        </p:txBody>
      </p:sp>
      <p:sp>
        <p:nvSpPr>
          <p:cNvPr id="15" name="Місце для номера слайда 14">
            <a:extLst>
              <a:ext uri="{FF2B5EF4-FFF2-40B4-BE49-F238E27FC236}">
                <a16:creationId xmlns:a16="http://schemas.microsoft.com/office/drawing/2014/main" id="{05A9114E-99F5-5622-C018-CCFB08327589}"/>
              </a:ext>
            </a:extLst>
          </p:cNvPr>
          <p:cNvSpPr>
            <a:spLocks noGrp="1"/>
          </p:cNvSpPr>
          <p:nvPr>
            <p:ph type="sldNum" sz="quarter" idx="17"/>
          </p:nvPr>
        </p:nvSpPr>
        <p:spPr/>
        <p:txBody>
          <a:bodyPr/>
          <a:lstStyle/>
          <a:p>
            <a:fld id="{A671A442-F593-47BC-B30B-7A4E30DC514C}" type="slidenum">
              <a:rPr lang="en-US" smtClean="0"/>
              <a:t>10</a:t>
            </a:fld>
            <a:endParaRPr lang="en-US" dirty="0"/>
          </a:p>
        </p:txBody>
      </p:sp>
      <p:grpSp>
        <p:nvGrpSpPr>
          <p:cNvPr id="16" name="Group 23">
            <a:extLst>
              <a:ext uri="{FF2B5EF4-FFF2-40B4-BE49-F238E27FC236}">
                <a16:creationId xmlns:a16="http://schemas.microsoft.com/office/drawing/2014/main" id="{38B32A60-EB4C-FF7B-B396-A3C81E765B38}"/>
              </a:ext>
            </a:extLst>
          </p:cNvPr>
          <p:cNvGrpSpPr/>
          <p:nvPr/>
        </p:nvGrpSpPr>
        <p:grpSpPr>
          <a:xfrm>
            <a:off x="6103028" y="2599692"/>
            <a:ext cx="2670048" cy="2190567"/>
            <a:chOff x="423326" y="2704656"/>
            <a:chExt cx="2670048" cy="2190567"/>
          </a:xfrm>
        </p:grpSpPr>
        <p:sp>
          <p:nvSpPr>
            <p:cNvPr id="17" name="Shape 5">
              <a:extLst>
                <a:ext uri="{FF2B5EF4-FFF2-40B4-BE49-F238E27FC236}">
                  <a16:creationId xmlns:a16="http://schemas.microsoft.com/office/drawing/2014/main" id="{DCC943DA-B1D7-E6AC-6C7A-3EB0054380A0}"/>
                </a:ext>
              </a:extLst>
            </p:cNvPr>
            <p:cNvSpPr/>
            <p:nvPr/>
          </p:nvSpPr>
          <p:spPr>
            <a:xfrm>
              <a:off x="423326" y="2704656"/>
              <a:ext cx="2627142" cy="2190567"/>
            </a:xfrm>
            <a:prstGeom prst="rect">
              <a:avLst/>
            </a:prstGeom>
            <a:solidFill>
              <a:schemeClr val="accent5">
                <a:lumMod val="20000"/>
                <a:lumOff val="80000"/>
              </a:schemeClr>
            </a:solidFill>
            <a:ln w="19050">
              <a:solidFill>
                <a:srgbClr val="FF6B6B"/>
              </a:solidFill>
              <a:prstDash val="solid"/>
            </a:ln>
          </p:spPr>
        </p:sp>
        <p:sp>
          <p:nvSpPr>
            <p:cNvPr id="18" name="Shape 6">
              <a:extLst>
                <a:ext uri="{FF2B5EF4-FFF2-40B4-BE49-F238E27FC236}">
                  <a16:creationId xmlns:a16="http://schemas.microsoft.com/office/drawing/2014/main" id="{F75CCEC3-A7B5-9584-0B81-960C7DD0D2AF}"/>
                </a:ext>
              </a:extLst>
            </p:cNvPr>
            <p:cNvSpPr/>
            <p:nvPr/>
          </p:nvSpPr>
          <p:spPr>
            <a:xfrm>
              <a:off x="423326" y="2704656"/>
              <a:ext cx="2627142" cy="52412"/>
            </a:xfrm>
            <a:prstGeom prst="rect">
              <a:avLst/>
            </a:prstGeom>
            <a:solidFill>
              <a:srgbClr val="FF6B6B"/>
            </a:solidFill>
            <a:ln w="12700">
              <a:solidFill>
                <a:srgbClr val="FF6B6B"/>
              </a:solidFill>
              <a:prstDash val="solid"/>
            </a:ln>
          </p:spPr>
        </p:sp>
        <p:sp>
          <p:nvSpPr>
            <p:cNvPr id="19" name="Shape 10">
              <a:extLst>
                <a:ext uri="{FF2B5EF4-FFF2-40B4-BE49-F238E27FC236}">
                  <a16:creationId xmlns:a16="http://schemas.microsoft.com/office/drawing/2014/main" id="{855D5822-5B3E-68A3-D4BC-19A43BE5E392}"/>
                </a:ext>
              </a:extLst>
            </p:cNvPr>
            <p:cNvSpPr/>
            <p:nvPr/>
          </p:nvSpPr>
          <p:spPr>
            <a:xfrm>
              <a:off x="685337" y="3232699"/>
              <a:ext cx="2103120" cy="347472"/>
            </a:xfrm>
            <a:prstGeom prst="rect">
              <a:avLst/>
            </a:prstGeom>
            <a:solidFill>
              <a:schemeClr val="accent5">
                <a:lumMod val="60000"/>
                <a:lumOff val="40000"/>
              </a:schemeClr>
            </a:solidFill>
            <a:ln w="8890">
              <a:solidFill>
                <a:srgbClr val="FF6B6B"/>
              </a:solidFill>
              <a:prstDash val="solid"/>
            </a:ln>
          </p:spPr>
        </p:sp>
        <p:sp>
          <p:nvSpPr>
            <p:cNvPr id="20" name="Text 11">
              <a:extLst>
                <a:ext uri="{FF2B5EF4-FFF2-40B4-BE49-F238E27FC236}">
                  <a16:creationId xmlns:a16="http://schemas.microsoft.com/office/drawing/2014/main" id="{86C8CD38-6798-539F-0AC2-72227C4D3AC7}"/>
                </a:ext>
              </a:extLst>
            </p:cNvPr>
            <p:cNvSpPr/>
            <p:nvPr/>
          </p:nvSpPr>
          <p:spPr>
            <a:xfrm>
              <a:off x="665531" y="3245645"/>
              <a:ext cx="2103120" cy="337232"/>
            </a:xfrm>
            <a:prstGeom prst="rect">
              <a:avLst/>
            </a:prstGeom>
            <a:noFill/>
            <a:ln/>
          </p:spPr>
          <p:txBody>
            <a:bodyPr wrap="square" lIns="0" tIns="0" rIns="0" bIns="0" rtlCol="0" anchor="ctr"/>
            <a:lstStyle/>
            <a:p>
              <a:pPr marL="0" indent="0" algn="ctr">
                <a:buNone/>
              </a:pPr>
              <a:r>
                <a:rPr lang="en-US" sz="1050" b="1" dirty="0">
                  <a:solidFill>
                    <a:srgbClr val="FF6B6B"/>
                  </a:solidFill>
                  <a:latin typeface="Times New Roman" panose="02020603050405020304" pitchFamily="18" charset="0"/>
                  <a:ea typeface="Consolas" pitchFamily="34" charset="-122"/>
                  <a:cs typeface="Times New Roman" panose="02020603050405020304" pitchFamily="18" charset="0"/>
                </a:rPr>
                <a:t>log(1 + viewCount) × 0.05</a:t>
              </a:r>
              <a:endParaRPr lang="en-US" sz="1050" b="1" dirty="0">
                <a:latin typeface="Times New Roman" panose="02020603050405020304" pitchFamily="18" charset="0"/>
                <a:cs typeface="Times New Roman" panose="02020603050405020304" pitchFamily="18" charset="0"/>
              </a:endParaRPr>
            </a:p>
          </p:txBody>
        </p:sp>
        <p:sp>
          <p:nvSpPr>
            <p:cNvPr id="21" name="Text 12">
              <a:extLst>
                <a:ext uri="{FF2B5EF4-FFF2-40B4-BE49-F238E27FC236}">
                  <a16:creationId xmlns:a16="http://schemas.microsoft.com/office/drawing/2014/main" id="{14382761-7CC7-D43A-14C0-4D77DC820B24}"/>
                </a:ext>
              </a:extLst>
            </p:cNvPr>
            <p:cNvSpPr/>
            <p:nvPr/>
          </p:nvSpPr>
          <p:spPr>
            <a:xfrm>
              <a:off x="514766" y="3617390"/>
              <a:ext cx="2578608" cy="1183941"/>
            </a:xfrm>
            <a:prstGeom prst="rect">
              <a:avLst/>
            </a:prstGeom>
            <a:noFill/>
            <a:ln/>
          </p:spPr>
          <p:txBody>
            <a:bodyPr wrap="square" rtlCol="0" anchor="t"/>
            <a:lstStyle/>
            <a:p>
              <a:pPr marL="0" indent="0">
                <a:lnSpc>
                  <a:spcPct val="130000"/>
                </a:lnSpc>
                <a:buNone/>
              </a:pPr>
              <a:r>
                <a:rPr lang="ru-RU" sz="1000" dirty="0">
                  <a:latin typeface="Times New Roman" panose="02020603050405020304" pitchFamily="18" charset="0"/>
                  <a:ea typeface="Calibri" pitchFamily="34" charset="-122"/>
                  <a:cs typeface="Times New Roman" panose="02020603050405020304" pitchFamily="18" charset="0"/>
                </a:rPr>
                <a:t>Логарифмічна шкала переглядів. Уникає домінування вірусних публікацій</a:t>
              </a:r>
              <a:r>
                <a:rPr lang="en-US" sz="1000" dirty="0">
                  <a:latin typeface="Times New Roman" panose="02020603050405020304" pitchFamily="18" charset="0"/>
                  <a:ea typeface="Calibri" pitchFamily="34" charset="-122"/>
                  <a:cs typeface="Times New Roman" panose="02020603050405020304" pitchFamily="18" charset="0"/>
                </a:rPr>
                <a:t>.</a:t>
              </a:r>
            </a:p>
            <a:p>
              <a:pPr marL="0" indent="0">
                <a:lnSpc>
                  <a:spcPct val="130000"/>
                </a:lnSpc>
                <a:buNone/>
              </a:pPr>
              <a:endParaRPr lang="en-US" sz="1000" dirty="0">
                <a:latin typeface="Times New Roman" panose="02020603050405020304" pitchFamily="18" charset="0"/>
                <a:ea typeface="Calibri" pitchFamily="34" charset="-122"/>
                <a:cs typeface="Times New Roman" panose="02020603050405020304" pitchFamily="18" charset="0"/>
              </a:endParaRPr>
            </a:p>
            <a:p>
              <a:pPr marL="0" indent="0">
                <a:lnSpc>
                  <a:spcPct val="130000"/>
                </a:lnSpc>
                <a:buNone/>
              </a:pPr>
              <a:r>
                <a:rPr lang="en-US" sz="1000" dirty="0">
                  <a:latin typeface="Times New Roman" panose="02020603050405020304" pitchFamily="18" charset="0"/>
                  <a:ea typeface="Calibri" pitchFamily="34" charset="-122"/>
                  <a:cs typeface="Times New Roman" panose="02020603050405020304" pitchFamily="18" charset="0"/>
                </a:rPr>
                <a:t>100 </a:t>
              </a:r>
              <a:r>
                <a:rPr lang="ru-RU" sz="1000" dirty="0">
                  <a:latin typeface="Times New Roman" panose="02020603050405020304" pitchFamily="18" charset="0"/>
                  <a:ea typeface="Calibri" pitchFamily="34" charset="-122"/>
                  <a:cs typeface="Times New Roman" panose="02020603050405020304" pitchFamily="18" charset="0"/>
                </a:rPr>
                <a:t>переглядів → ~0.23</a:t>
              </a:r>
            </a:p>
            <a:p>
              <a:pPr marL="0" indent="0">
                <a:lnSpc>
                  <a:spcPct val="130000"/>
                </a:lnSpc>
                <a:buNone/>
              </a:pPr>
              <a:r>
                <a:rPr lang="ru-RU" sz="1000" dirty="0">
                  <a:latin typeface="Times New Roman" panose="02020603050405020304" pitchFamily="18" charset="0"/>
                  <a:ea typeface="Calibri" pitchFamily="34" charset="-122"/>
                  <a:cs typeface="Times New Roman" panose="02020603050405020304" pitchFamily="18" charset="0"/>
                </a:rPr>
                <a:t>10 000 переглядів → ~0.46</a:t>
              </a:r>
            </a:p>
            <a:p>
              <a:pPr marL="0" indent="0">
                <a:lnSpc>
                  <a:spcPct val="130000"/>
                </a:lnSpc>
                <a:buNone/>
              </a:pPr>
              <a:r>
                <a:rPr lang="ru-RU" sz="1000" dirty="0">
                  <a:latin typeface="Times New Roman" panose="02020603050405020304" pitchFamily="18" charset="0"/>
                  <a:ea typeface="Calibri" pitchFamily="34" charset="-122"/>
                  <a:cs typeface="Times New Roman" panose="02020603050405020304" pitchFamily="18" charset="0"/>
                </a:rPr>
                <a:t>Малий але важливий сигнал.</a:t>
              </a:r>
            </a:p>
          </p:txBody>
        </p:sp>
      </p:grpSp>
      <p:sp>
        <p:nvSpPr>
          <p:cNvPr id="22" name="Google Shape;89;p17">
            <a:extLst>
              <a:ext uri="{FF2B5EF4-FFF2-40B4-BE49-F238E27FC236}">
                <a16:creationId xmlns:a16="http://schemas.microsoft.com/office/drawing/2014/main" id="{4AB0C3DA-AF8F-9041-0C50-EF0A6107CC5F}"/>
              </a:ext>
            </a:extLst>
          </p:cNvPr>
          <p:cNvSpPr txBox="1"/>
          <p:nvPr/>
        </p:nvSpPr>
        <p:spPr>
          <a:xfrm>
            <a:off x="663820" y="979174"/>
            <a:ext cx="5320180" cy="1031658"/>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uk-UA" sz="1200" dirty="0">
                <a:solidFill>
                  <a:schemeClr val="dk1"/>
                </a:solidFill>
                <a:latin typeface="Times New Roman" panose="02020603050405020304" pitchFamily="18" charset="0"/>
                <a:ea typeface="Montserrat Medium"/>
                <a:cs typeface="Times New Roman" panose="02020603050405020304" pitchFamily="18" charset="0"/>
                <a:sym typeface="Montserrat Medium"/>
              </a:rPr>
              <a:t>Алгоритм поєднує:</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Content-Based Filtering (</a:t>
            </a:r>
            <a:r>
              <a:rPr lang="ru-RU" sz="1200" dirty="0">
                <a:latin typeface="Times New Roman" panose="02020603050405020304" pitchFamily="18" charset="0"/>
                <a:cs typeface="Times New Roman" panose="02020603050405020304" pitchFamily="18" charset="0"/>
              </a:rPr>
              <a:t>по тегах користувача)</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Popularity-Based (</a:t>
            </a:r>
            <a:r>
              <a:rPr lang="ru-RU" sz="1200" dirty="0">
                <a:latin typeface="Times New Roman" panose="02020603050405020304" pitchFamily="18" charset="0"/>
                <a:cs typeface="Times New Roman" panose="02020603050405020304" pitchFamily="18" charset="0"/>
              </a:rPr>
              <a:t>лайки + перегляди)</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Time-Based (</a:t>
            </a:r>
            <a:r>
              <a:rPr lang="ru-RU" sz="1200" dirty="0">
                <a:latin typeface="Times New Roman" panose="02020603050405020304" pitchFamily="18" charset="0"/>
                <a:cs typeface="Times New Roman" panose="02020603050405020304" pitchFamily="18" charset="0"/>
              </a:rPr>
              <a:t>свіжість контенту)</a:t>
            </a:r>
          </a:p>
          <a:p>
            <a:pPr marL="171450" lvl="0" indent="-171450" algn="just" rtl="0">
              <a:spcBef>
                <a:spcPts val="0"/>
              </a:spcBef>
              <a:spcAft>
                <a:spcPts val="0"/>
              </a:spcAft>
              <a:buFont typeface="Arial" panose="020B0604020202020204" pitchFamily="34" charset="0"/>
              <a:buChar char="•"/>
            </a:pPr>
            <a:endParaRPr sz="1200" dirty="0">
              <a:solidFill>
                <a:schemeClr val="dk1"/>
              </a:solidFill>
              <a:latin typeface="Times New Roman" panose="02020603050405020304" pitchFamily="18" charset="0"/>
              <a:ea typeface="Montserrat Medium"/>
              <a:cs typeface="Times New Roman" panose="02020603050405020304" pitchFamily="18" charset="0"/>
              <a:sym typeface="Montserrat Medium"/>
            </a:endParaRPr>
          </a:p>
        </p:txBody>
      </p:sp>
      <p:sp>
        <p:nvSpPr>
          <p:cNvPr id="23" name="Text 4">
            <a:extLst>
              <a:ext uri="{FF2B5EF4-FFF2-40B4-BE49-F238E27FC236}">
                <a16:creationId xmlns:a16="http://schemas.microsoft.com/office/drawing/2014/main" id="{AADF569F-DF66-0A5F-BBA7-711FE2DE03A2}"/>
              </a:ext>
            </a:extLst>
          </p:cNvPr>
          <p:cNvSpPr/>
          <p:nvPr/>
        </p:nvSpPr>
        <p:spPr>
          <a:xfrm>
            <a:off x="632167" y="2095028"/>
            <a:ext cx="6537080" cy="530253"/>
          </a:xfrm>
          <a:prstGeom prst="rect">
            <a:avLst/>
          </a:prstGeom>
          <a:noFill/>
          <a:ln/>
        </p:spPr>
        <p:txBody>
          <a:bodyPr wrap="square" lIns="0" tIns="0" rIns="0" bIns="0" rtlCol="0" anchor="ctr"/>
          <a:lstStyle/>
          <a:p>
            <a:pPr marL="0" indent="0" algn="ctr">
              <a:buNone/>
            </a:pPr>
            <a:r>
              <a:rPr lang="en-US" sz="1200" b="1" dirty="0">
                <a:latin typeface="Times New Roman" panose="02020603050405020304" pitchFamily="18" charset="0"/>
                <a:ea typeface="Consolas" pitchFamily="34" charset="-122"/>
                <a:cs typeface="Times New Roman" panose="02020603050405020304" pitchFamily="18" charset="0"/>
              </a:rPr>
              <a:t>Score  =  </a:t>
            </a:r>
            <a:r>
              <a:rPr lang="en-US" sz="1200" b="1" dirty="0">
                <a:solidFill>
                  <a:srgbClr val="00C2A8"/>
                </a:solidFill>
                <a:latin typeface="Times New Roman" panose="02020603050405020304" pitchFamily="18" charset="0"/>
                <a:ea typeface="Consolas" pitchFamily="34" charset="-122"/>
                <a:cs typeface="Times New Roman" panose="02020603050405020304" pitchFamily="18" charset="0"/>
              </a:rPr>
              <a:t>tagScore</a:t>
            </a: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 </a:t>
            </a:r>
            <a:r>
              <a:rPr lang="en-US" sz="1200" dirty="0">
                <a:latin typeface="Times New Roman" panose="02020603050405020304" pitchFamily="18" charset="0"/>
                <a:ea typeface="Consolas" pitchFamily="34" charset="-122"/>
                <a:cs typeface="Times New Roman" panose="02020603050405020304" pitchFamily="18" charset="0"/>
              </a:rPr>
              <a:t>× 0.70  +  </a:t>
            </a:r>
            <a:r>
              <a:rPr lang="en-US" sz="1200" b="1" dirty="0">
                <a:solidFill>
                  <a:srgbClr val="F4B942"/>
                </a:solidFill>
                <a:latin typeface="Times New Roman" panose="02020603050405020304" pitchFamily="18" charset="0"/>
                <a:ea typeface="Consolas" pitchFamily="34" charset="-122"/>
                <a:cs typeface="Times New Roman" panose="02020603050405020304" pitchFamily="18" charset="0"/>
              </a:rPr>
              <a:t>recencyScore</a:t>
            </a: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 </a:t>
            </a:r>
            <a:r>
              <a:rPr lang="en-US" sz="1200" dirty="0">
                <a:latin typeface="Times New Roman" panose="02020603050405020304" pitchFamily="18" charset="0"/>
                <a:ea typeface="Consolas" pitchFamily="34" charset="-122"/>
                <a:cs typeface="Times New Roman" panose="02020603050405020304" pitchFamily="18" charset="0"/>
              </a:rPr>
              <a:t>× 0.20  +  </a:t>
            </a:r>
            <a:r>
              <a:rPr lang="en-US" sz="1200" b="1" dirty="0">
                <a:solidFill>
                  <a:srgbClr val="FF6B6B"/>
                </a:solidFill>
                <a:latin typeface="Times New Roman" panose="02020603050405020304" pitchFamily="18" charset="0"/>
                <a:ea typeface="Consolas" pitchFamily="34" charset="-122"/>
                <a:cs typeface="Times New Roman" panose="02020603050405020304" pitchFamily="18" charset="0"/>
              </a:rPr>
              <a:t>popularityScore</a:t>
            </a: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 </a:t>
            </a:r>
            <a:r>
              <a:rPr lang="en-US" sz="1200" dirty="0">
                <a:latin typeface="Times New Roman" panose="02020603050405020304" pitchFamily="18" charset="0"/>
                <a:ea typeface="Consolas" pitchFamily="34" charset="-122"/>
                <a:cs typeface="Times New Roman" panose="02020603050405020304" pitchFamily="18" charset="0"/>
              </a:rPr>
              <a:t>× 0.10</a:t>
            </a:r>
            <a:endParaRPr lang="en-US" sz="1200" dirty="0">
              <a:latin typeface="Times New Roman" panose="02020603050405020304" pitchFamily="18" charset="0"/>
              <a:cs typeface="Times New Roman" panose="02020603050405020304" pitchFamily="18" charset="0"/>
            </a:endParaRPr>
          </a:p>
        </p:txBody>
      </p:sp>
      <p:sp>
        <p:nvSpPr>
          <p:cNvPr id="24" name="Google Shape;89;p17">
            <a:extLst>
              <a:ext uri="{FF2B5EF4-FFF2-40B4-BE49-F238E27FC236}">
                <a16:creationId xmlns:a16="http://schemas.microsoft.com/office/drawing/2014/main" id="{7050DEDB-29F1-3E11-1B4E-8DBE88BB51E0}"/>
              </a:ext>
            </a:extLst>
          </p:cNvPr>
          <p:cNvSpPr txBox="1"/>
          <p:nvPr/>
        </p:nvSpPr>
        <p:spPr>
          <a:xfrm>
            <a:off x="632167" y="1846389"/>
            <a:ext cx="5320180" cy="456138"/>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uk-UA" sz="1600" b="1" dirty="0">
                <a:solidFill>
                  <a:schemeClr val="dk1"/>
                </a:solidFill>
                <a:latin typeface="Times New Roman" panose="02020603050405020304" pitchFamily="18" charset="0"/>
                <a:ea typeface="Montserrat Medium"/>
                <a:cs typeface="Times New Roman" panose="02020603050405020304" pitchFamily="18" charset="0"/>
                <a:sym typeface="Montserrat Medium"/>
              </a:rPr>
              <a:t>Формула розрахунку:</a:t>
            </a:r>
            <a:endParaRPr sz="1600" b="1" dirty="0">
              <a:solidFill>
                <a:schemeClr val="dk1"/>
              </a:solidFill>
              <a:latin typeface="Times New Roman" panose="02020603050405020304" pitchFamily="18" charset="0"/>
              <a:ea typeface="Montserrat Medium"/>
              <a:cs typeface="Times New Roman" panose="02020603050405020304" pitchFamily="18" charset="0"/>
              <a:sym typeface="Montserrat Medium"/>
            </a:endParaRPr>
          </a:p>
        </p:txBody>
      </p:sp>
      <p:grpSp>
        <p:nvGrpSpPr>
          <p:cNvPr id="25" name="Group 15">
            <a:extLst>
              <a:ext uri="{FF2B5EF4-FFF2-40B4-BE49-F238E27FC236}">
                <a16:creationId xmlns:a16="http://schemas.microsoft.com/office/drawing/2014/main" id="{417F94E4-ED11-B3E0-5A2D-A8A71A4D0166}"/>
              </a:ext>
            </a:extLst>
          </p:cNvPr>
          <p:cNvGrpSpPr/>
          <p:nvPr/>
        </p:nvGrpSpPr>
        <p:grpSpPr>
          <a:xfrm>
            <a:off x="529890" y="2590731"/>
            <a:ext cx="2627142" cy="2190567"/>
            <a:chOff x="423326" y="2704656"/>
            <a:chExt cx="2627142" cy="2190567"/>
          </a:xfrm>
        </p:grpSpPr>
        <p:sp>
          <p:nvSpPr>
            <p:cNvPr id="26" name="Shape 5">
              <a:extLst>
                <a:ext uri="{FF2B5EF4-FFF2-40B4-BE49-F238E27FC236}">
                  <a16:creationId xmlns:a16="http://schemas.microsoft.com/office/drawing/2014/main" id="{1C4153A1-23F4-ED49-E436-E61694B5C357}"/>
                </a:ext>
              </a:extLst>
            </p:cNvPr>
            <p:cNvSpPr/>
            <p:nvPr/>
          </p:nvSpPr>
          <p:spPr>
            <a:xfrm>
              <a:off x="423326" y="2704656"/>
              <a:ext cx="2627142" cy="2190567"/>
            </a:xfrm>
            <a:prstGeom prst="rect">
              <a:avLst/>
            </a:prstGeom>
            <a:solidFill>
              <a:schemeClr val="accent5">
                <a:lumMod val="20000"/>
                <a:lumOff val="80000"/>
              </a:schemeClr>
            </a:solidFill>
            <a:ln w="19050">
              <a:solidFill>
                <a:srgbClr val="2F5597"/>
              </a:solidFill>
              <a:prstDash val="solid"/>
            </a:ln>
          </p:spPr>
          <p:txBody>
            <a:bodyPr/>
            <a:lstStyle/>
            <a:p>
              <a:endParaRPr lang="en-US" dirty="0"/>
            </a:p>
          </p:txBody>
        </p:sp>
        <p:sp>
          <p:nvSpPr>
            <p:cNvPr id="27" name="Shape 6">
              <a:extLst>
                <a:ext uri="{FF2B5EF4-FFF2-40B4-BE49-F238E27FC236}">
                  <a16:creationId xmlns:a16="http://schemas.microsoft.com/office/drawing/2014/main" id="{0A1A3333-FCF1-35E9-52A3-443B28D33629}"/>
                </a:ext>
              </a:extLst>
            </p:cNvPr>
            <p:cNvSpPr/>
            <p:nvPr/>
          </p:nvSpPr>
          <p:spPr>
            <a:xfrm>
              <a:off x="423326" y="2704656"/>
              <a:ext cx="2627142" cy="52412"/>
            </a:xfrm>
            <a:prstGeom prst="rect">
              <a:avLst/>
            </a:prstGeom>
            <a:solidFill>
              <a:srgbClr val="0070C0"/>
            </a:solidFill>
            <a:ln w="12700">
              <a:solidFill>
                <a:srgbClr val="2F5597"/>
              </a:solidFill>
              <a:prstDash val="solid"/>
            </a:ln>
          </p:spPr>
        </p:sp>
        <p:sp>
          <p:nvSpPr>
            <p:cNvPr id="28" name="Text 9">
              <a:extLst>
                <a:ext uri="{FF2B5EF4-FFF2-40B4-BE49-F238E27FC236}">
                  <a16:creationId xmlns:a16="http://schemas.microsoft.com/office/drawing/2014/main" id="{18725519-678C-A3E4-1793-C897121792DF}"/>
                </a:ext>
              </a:extLst>
            </p:cNvPr>
            <p:cNvSpPr/>
            <p:nvPr/>
          </p:nvSpPr>
          <p:spPr>
            <a:xfrm>
              <a:off x="514766" y="2850960"/>
              <a:ext cx="2103120" cy="411480"/>
            </a:xfrm>
            <a:prstGeom prst="rect">
              <a:avLst/>
            </a:prstGeom>
            <a:noFill/>
            <a:ln>
              <a:noFill/>
            </a:ln>
          </p:spPr>
          <p:txBody>
            <a:bodyPr wrap="square" rtlCol="0" anchor="ctr"/>
            <a:lstStyle/>
            <a:p>
              <a:pPr marL="0" indent="0">
                <a:buNone/>
              </a:pPr>
              <a:r>
                <a:rPr lang="en-US" sz="1400" b="1" dirty="0">
                  <a:solidFill>
                    <a:srgbClr val="2F5597"/>
                  </a:solidFill>
                  <a:latin typeface="Times New Roman" panose="02020603050405020304" pitchFamily="18" charset="0"/>
                  <a:ea typeface="Calibri" pitchFamily="34" charset="-122"/>
                  <a:cs typeface="Times New Roman" panose="02020603050405020304" pitchFamily="18" charset="0"/>
                </a:rPr>
                <a:t>Tag Score</a:t>
              </a:r>
              <a:endParaRPr lang="en-US" sz="1400" dirty="0">
                <a:solidFill>
                  <a:srgbClr val="2F5597"/>
                </a:solidFill>
                <a:latin typeface="Times New Roman" panose="02020603050405020304" pitchFamily="18" charset="0"/>
                <a:cs typeface="Times New Roman" panose="02020603050405020304" pitchFamily="18" charset="0"/>
              </a:endParaRPr>
            </a:p>
          </p:txBody>
        </p:sp>
        <p:sp>
          <p:nvSpPr>
            <p:cNvPr id="29" name="Shape 10">
              <a:extLst>
                <a:ext uri="{FF2B5EF4-FFF2-40B4-BE49-F238E27FC236}">
                  <a16:creationId xmlns:a16="http://schemas.microsoft.com/office/drawing/2014/main" id="{F5A5F733-4036-6485-2CA4-DCD059E5339D}"/>
                </a:ext>
              </a:extLst>
            </p:cNvPr>
            <p:cNvSpPr/>
            <p:nvPr/>
          </p:nvSpPr>
          <p:spPr>
            <a:xfrm>
              <a:off x="685337" y="3232699"/>
              <a:ext cx="2103120" cy="347472"/>
            </a:xfrm>
            <a:prstGeom prst="rect">
              <a:avLst/>
            </a:prstGeom>
            <a:solidFill>
              <a:schemeClr val="accent5">
                <a:lumMod val="60000"/>
                <a:lumOff val="40000"/>
              </a:schemeClr>
            </a:solidFill>
            <a:ln w="8890">
              <a:solidFill>
                <a:srgbClr val="2F5597"/>
              </a:solidFill>
              <a:prstDash val="solid"/>
            </a:ln>
          </p:spPr>
        </p:sp>
        <p:sp>
          <p:nvSpPr>
            <p:cNvPr id="30" name="Text 11">
              <a:extLst>
                <a:ext uri="{FF2B5EF4-FFF2-40B4-BE49-F238E27FC236}">
                  <a16:creationId xmlns:a16="http://schemas.microsoft.com/office/drawing/2014/main" id="{42FCBE33-9C92-0AB5-9ACF-E9BA15A2BFF8}"/>
                </a:ext>
              </a:extLst>
            </p:cNvPr>
            <p:cNvSpPr/>
            <p:nvPr/>
          </p:nvSpPr>
          <p:spPr>
            <a:xfrm>
              <a:off x="557256" y="3246780"/>
              <a:ext cx="2103120" cy="337232"/>
            </a:xfrm>
            <a:prstGeom prst="rect">
              <a:avLst/>
            </a:prstGeom>
            <a:noFill/>
            <a:ln>
              <a:noFill/>
            </a:ln>
          </p:spPr>
          <p:txBody>
            <a:bodyPr wrap="square" lIns="0" tIns="0" rIns="0" bIns="0" rtlCol="0" anchor="ctr"/>
            <a:lstStyle/>
            <a:p>
              <a:pPr marL="0" indent="0" algn="ctr">
                <a:buNone/>
              </a:pPr>
              <a:r>
                <a:rPr lang="en-US" sz="1050" b="1" dirty="0">
                  <a:solidFill>
                    <a:srgbClr val="0070C0"/>
                  </a:solidFill>
                  <a:latin typeface="Times New Roman" panose="02020603050405020304" pitchFamily="18" charset="0"/>
                  <a:ea typeface="Consolas" pitchFamily="34" charset="-122"/>
                  <a:cs typeface="Times New Roman" panose="02020603050405020304" pitchFamily="18" charset="0"/>
                </a:rPr>
                <a:t>∑ weightLookup[tagId]</a:t>
              </a:r>
              <a:endParaRPr lang="en-US" sz="1050" b="1" dirty="0">
                <a:solidFill>
                  <a:srgbClr val="0070C0"/>
                </a:solidFill>
                <a:latin typeface="Times New Roman" panose="02020603050405020304" pitchFamily="18" charset="0"/>
                <a:cs typeface="Times New Roman" panose="02020603050405020304" pitchFamily="18" charset="0"/>
              </a:endParaRPr>
            </a:p>
          </p:txBody>
        </p:sp>
        <p:sp>
          <p:nvSpPr>
            <p:cNvPr id="31" name="Text 12">
              <a:extLst>
                <a:ext uri="{FF2B5EF4-FFF2-40B4-BE49-F238E27FC236}">
                  <a16:creationId xmlns:a16="http://schemas.microsoft.com/office/drawing/2014/main" id="{13935AA0-532A-B4FC-F880-FDEDB06EAE6E}"/>
                </a:ext>
              </a:extLst>
            </p:cNvPr>
            <p:cNvSpPr/>
            <p:nvPr/>
          </p:nvSpPr>
          <p:spPr>
            <a:xfrm>
              <a:off x="447593" y="3617390"/>
              <a:ext cx="2578608" cy="1183941"/>
            </a:xfrm>
            <a:prstGeom prst="rect">
              <a:avLst/>
            </a:prstGeom>
            <a:noFill/>
            <a:ln>
              <a:noFill/>
            </a:ln>
          </p:spPr>
          <p:txBody>
            <a:bodyPr wrap="square" rtlCol="0" anchor="t"/>
            <a:lstStyle/>
            <a:p>
              <a:pPr marL="0" indent="0">
                <a:lnSpc>
                  <a:spcPct val="130000"/>
                </a:lnSpc>
                <a:buNone/>
              </a:pPr>
              <a:r>
                <a:rPr lang="en-US" sz="1000" dirty="0">
                  <a:latin typeface="Times New Roman" panose="02020603050405020304" pitchFamily="18" charset="0"/>
                  <a:ea typeface="Calibri" pitchFamily="34" charset="-122"/>
                  <a:cs typeface="Times New Roman" panose="02020603050405020304" pitchFamily="18" charset="0"/>
                </a:rPr>
                <a:t>Сума ваг усіх тегів публікації,</a:t>
              </a:r>
              <a:r>
                <a:rPr lang="uk-UA" sz="1000" dirty="0">
                  <a:latin typeface="Times New Roman" panose="02020603050405020304" pitchFamily="18" charset="0"/>
                  <a:ea typeface="Calibri" pitchFamily="34" charset="-122"/>
                  <a:cs typeface="Times New Roman" panose="02020603050405020304" pitchFamily="18" charset="0"/>
                </a:rPr>
                <a:t> </a:t>
              </a:r>
              <a:r>
                <a:rPr lang="en-US" sz="1000" dirty="0">
                  <a:latin typeface="Times New Roman" panose="02020603050405020304" pitchFamily="18" charset="0"/>
                  <a:ea typeface="Calibri" pitchFamily="34" charset="-122"/>
                  <a:cs typeface="Times New Roman" panose="02020603050405020304" pitchFamily="18" charset="0"/>
                </a:rPr>
                <a:t>що збігаються з інтересами</a:t>
              </a:r>
              <a:r>
                <a:rPr lang="uk-UA" sz="1000" dirty="0">
                  <a:latin typeface="Times New Roman" panose="02020603050405020304" pitchFamily="18" charset="0"/>
                  <a:cs typeface="Times New Roman" panose="02020603050405020304" pitchFamily="18" charset="0"/>
                </a:rPr>
                <a:t> </a:t>
              </a:r>
              <a:r>
                <a:rPr lang="en-US" sz="1000" dirty="0">
                  <a:latin typeface="Times New Roman" panose="02020603050405020304" pitchFamily="18" charset="0"/>
                  <a:ea typeface="Calibri" pitchFamily="34" charset="-122"/>
                  <a:cs typeface="Times New Roman" panose="02020603050405020304" pitchFamily="18" charset="0"/>
                </a:rPr>
                <a:t>користувача.</a:t>
              </a:r>
              <a:endParaRPr lang="en-US" sz="1000" dirty="0">
                <a:latin typeface="Times New Roman" panose="02020603050405020304" pitchFamily="18" charset="0"/>
                <a:cs typeface="Times New Roman" panose="02020603050405020304" pitchFamily="18" charset="0"/>
              </a:endParaRPr>
            </a:p>
            <a:p>
              <a:pPr marL="0" indent="0">
                <a:lnSpc>
                  <a:spcPct val="130000"/>
                </a:lnSpc>
                <a:buNone/>
              </a:pPr>
              <a:r>
                <a:rPr lang="en-US" sz="1000" dirty="0">
                  <a:latin typeface="Times New Roman" panose="02020603050405020304" pitchFamily="18" charset="0"/>
                  <a:ea typeface="Calibri" pitchFamily="34" charset="-122"/>
                  <a:cs typeface="Times New Roman" panose="02020603050405020304" pitchFamily="18" charset="0"/>
                </a:rPr>
                <a:t>Ваги зберігаються в таблиці</a:t>
              </a:r>
              <a:r>
                <a:rPr lang="uk-UA" sz="1000" dirty="0">
                  <a:latin typeface="Times New Roman" panose="02020603050405020304" pitchFamily="18" charset="0"/>
                  <a:cs typeface="Times New Roman" panose="02020603050405020304" pitchFamily="18" charset="0"/>
                </a:rPr>
                <a:t> </a:t>
              </a:r>
              <a:r>
                <a:rPr lang="en-US" sz="1000" dirty="0">
                  <a:latin typeface="Times New Roman" panose="02020603050405020304" pitchFamily="18" charset="0"/>
                  <a:ea typeface="Calibri" pitchFamily="34" charset="-122"/>
                  <a:cs typeface="Times New Roman" panose="02020603050405020304" pitchFamily="18" charset="0"/>
                </a:rPr>
                <a:t>UserInterestTags та оновлюються</a:t>
              </a:r>
              <a:r>
                <a:rPr lang="uk-UA" sz="1000" dirty="0">
                  <a:latin typeface="Times New Roman" panose="02020603050405020304" pitchFamily="18" charset="0"/>
                  <a:cs typeface="Times New Roman" panose="02020603050405020304" pitchFamily="18" charset="0"/>
                </a:rPr>
                <a:t> </a:t>
              </a:r>
              <a:r>
                <a:rPr lang="en-US" sz="1000" dirty="0">
                  <a:latin typeface="Times New Roman" panose="02020603050405020304" pitchFamily="18" charset="0"/>
                  <a:ea typeface="Calibri" pitchFamily="34" charset="-122"/>
                  <a:cs typeface="Times New Roman" panose="02020603050405020304" pitchFamily="18" charset="0"/>
                </a:rPr>
                <a:t>по поведінці (перегляди, лайки).</a:t>
              </a:r>
              <a:endParaRPr lang="en-US" sz="1000" dirty="0">
                <a:latin typeface="Times New Roman" panose="02020603050405020304" pitchFamily="18" charset="0"/>
                <a:cs typeface="Times New Roman" panose="02020603050405020304" pitchFamily="18" charset="0"/>
              </a:endParaRPr>
            </a:p>
          </p:txBody>
        </p:sp>
      </p:grpSp>
      <p:grpSp>
        <p:nvGrpSpPr>
          <p:cNvPr id="32" name="Group 16">
            <a:extLst>
              <a:ext uri="{FF2B5EF4-FFF2-40B4-BE49-F238E27FC236}">
                <a16:creationId xmlns:a16="http://schemas.microsoft.com/office/drawing/2014/main" id="{A503F9CC-E8BC-D373-9981-E75C8831C1E3}"/>
              </a:ext>
            </a:extLst>
          </p:cNvPr>
          <p:cNvGrpSpPr/>
          <p:nvPr/>
        </p:nvGrpSpPr>
        <p:grpSpPr>
          <a:xfrm>
            <a:off x="3337020" y="2599693"/>
            <a:ext cx="2670048" cy="2190567"/>
            <a:chOff x="423326" y="2704656"/>
            <a:chExt cx="2670048" cy="2190567"/>
          </a:xfrm>
        </p:grpSpPr>
        <p:sp>
          <p:nvSpPr>
            <p:cNvPr id="33" name="Shape 5">
              <a:extLst>
                <a:ext uri="{FF2B5EF4-FFF2-40B4-BE49-F238E27FC236}">
                  <a16:creationId xmlns:a16="http://schemas.microsoft.com/office/drawing/2014/main" id="{80F193EE-4D34-A808-7704-377755D811A5}"/>
                </a:ext>
              </a:extLst>
            </p:cNvPr>
            <p:cNvSpPr/>
            <p:nvPr/>
          </p:nvSpPr>
          <p:spPr>
            <a:xfrm>
              <a:off x="423326" y="2704656"/>
              <a:ext cx="2627142" cy="2190567"/>
            </a:xfrm>
            <a:prstGeom prst="rect">
              <a:avLst/>
            </a:prstGeom>
            <a:solidFill>
              <a:schemeClr val="accent5">
                <a:lumMod val="20000"/>
                <a:lumOff val="80000"/>
              </a:schemeClr>
            </a:solidFill>
            <a:ln w="19050">
              <a:solidFill>
                <a:srgbClr val="FFC000"/>
              </a:solidFill>
              <a:prstDash val="solid"/>
            </a:ln>
          </p:spPr>
        </p:sp>
        <p:sp>
          <p:nvSpPr>
            <p:cNvPr id="34" name="Shape 6">
              <a:extLst>
                <a:ext uri="{FF2B5EF4-FFF2-40B4-BE49-F238E27FC236}">
                  <a16:creationId xmlns:a16="http://schemas.microsoft.com/office/drawing/2014/main" id="{37C49D96-2E1F-C8E3-FE27-BEC50E66D7DD}"/>
                </a:ext>
              </a:extLst>
            </p:cNvPr>
            <p:cNvSpPr/>
            <p:nvPr/>
          </p:nvSpPr>
          <p:spPr>
            <a:xfrm>
              <a:off x="423326" y="2704656"/>
              <a:ext cx="2627142" cy="52412"/>
            </a:xfrm>
            <a:prstGeom prst="rect">
              <a:avLst/>
            </a:prstGeom>
            <a:solidFill>
              <a:srgbClr val="FFC000"/>
            </a:solidFill>
            <a:ln w="12700">
              <a:solidFill>
                <a:srgbClr val="FFC000"/>
              </a:solidFill>
              <a:prstDash val="solid"/>
            </a:ln>
          </p:spPr>
        </p:sp>
        <p:sp>
          <p:nvSpPr>
            <p:cNvPr id="35" name="Shape 10">
              <a:extLst>
                <a:ext uri="{FF2B5EF4-FFF2-40B4-BE49-F238E27FC236}">
                  <a16:creationId xmlns:a16="http://schemas.microsoft.com/office/drawing/2014/main" id="{A3A4BBCD-96BD-FC8E-6821-8BD32DECA48C}"/>
                </a:ext>
              </a:extLst>
            </p:cNvPr>
            <p:cNvSpPr/>
            <p:nvPr/>
          </p:nvSpPr>
          <p:spPr>
            <a:xfrm>
              <a:off x="685337" y="3232699"/>
              <a:ext cx="2103120" cy="347472"/>
            </a:xfrm>
            <a:prstGeom prst="rect">
              <a:avLst/>
            </a:prstGeom>
            <a:solidFill>
              <a:schemeClr val="accent5">
                <a:lumMod val="60000"/>
                <a:lumOff val="40000"/>
              </a:schemeClr>
            </a:solidFill>
            <a:ln w="8890">
              <a:solidFill>
                <a:srgbClr val="FFC000"/>
              </a:solidFill>
              <a:prstDash val="solid"/>
            </a:ln>
          </p:spPr>
        </p:sp>
        <p:sp>
          <p:nvSpPr>
            <p:cNvPr id="36" name="Text 11">
              <a:extLst>
                <a:ext uri="{FF2B5EF4-FFF2-40B4-BE49-F238E27FC236}">
                  <a16:creationId xmlns:a16="http://schemas.microsoft.com/office/drawing/2014/main" id="{EEB6BCBA-2E20-841B-A783-73FAE4AB4E7F}"/>
                </a:ext>
              </a:extLst>
            </p:cNvPr>
            <p:cNvSpPr/>
            <p:nvPr/>
          </p:nvSpPr>
          <p:spPr>
            <a:xfrm>
              <a:off x="665531" y="3245645"/>
              <a:ext cx="2103120" cy="337232"/>
            </a:xfrm>
            <a:prstGeom prst="rect">
              <a:avLst/>
            </a:prstGeom>
            <a:noFill/>
            <a:ln/>
          </p:spPr>
          <p:txBody>
            <a:bodyPr wrap="square" lIns="0" tIns="0" rIns="0" bIns="0" rtlCol="0" anchor="ctr"/>
            <a:lstStyle/>
            <a:p>
              <a:pPr marL="0" indent="0" algn="ctr">
                <a:buNone/>
              </a:pPr>
              <a:r>
                <a:rPr lang="en-US" sz="1050" b="1" dirty="0">
                  <a:solidFill>
                    <a:srgbClr val="FFC000"/>
                  </a:solidFill>
                  <a:latin typeface="Times New Roman" panose="02020603050405020304" pitchFamily="18" charset="0"/>
                  <a:ea typeface="Consolas" pitchFamily="34" charset="-122"/>
                  <a:cs typeface="Times New Roman" panose="02020603050405020304" pitchFamily="18" charset="0"/>
                </a:rPr>
                <a:t>1 / (1 + ageInDays × 0.1)</a:t>
              </a:r>
              <a:endParaRPr lang="en-US" sz="1050" b="1" dirty="0">
                <a:solidFill>
                  <a:srgbClr val="FFC000"/>
                </a:solidFill>
                <a:latin typeface="Times New Roman" panose="02020603050405020304" pitchFamily="18" charset="0"/>
                <a:cs typeface="Times New Roman" panose="02020603050405020304" pitchFamily="18" charset="0"/>
              </a:endParaRPr>
            </a:p>
          </p:txBody>
        </p:sp>
        <p:sp>
          <p:nvSpPr>
            <p:cNvPr id="37" name="Text 12">
              <a:extLst>
                <a:ext uri="{FF2B5EF4-FFF2-40B4-BE49-F238E27FC236}">
                  <a16:creationId xmlns:a16="http://schemas.microsoft.com/office/drawing/2014/main" id="{006305E6-DDF0-08C4-ECD7-37EB712C998D}"/>
                </a:ext>
              </a:extLst>
            </p:cNvPr>
            <p:cNvSpPr/>
            <p:nvPr/>
          </p:nvSpPr>
          <p:spPr>
            <a:xfrm>
              <a:off x="514766" y="3617390"/>
              <a:ext cx="2578608" cy="1183941"/>
            </a:xfrm>
            <a:prstGeom prst="rect">
              <a:avLst/>
            </a:prstGeom>
            <a:noFill/>
            <a:ln/>
          </p:spPr>
          <p:txBody>
            <a:bodyPr wrap="square" rtlCol="0" anchor="t"/>
            <a:lstStyle/>
            <a:p>
              <a:pPr>
                <a:lnSpc>
                  <a:spcPct val="130000"/>
                </a:lnSpc>
              </a:pPr>
              <a:r>
                <a:rPr lang="ru-RU" sz="1000" dirty="0">
                  <a:latin typeface="Times New Roman" panose="02020603050405020304" pitchFamily="18" charset="0"/>
                  <a:ea typeface="Calibri" pitchFamily="34" charset="-122"/>
                  <a:cs typeface="Times New Roman" panose="02020603050405020304" pitchFamily="18" charset="0"/>
                </a:rPr>
                <a:t>Функція згасання з часом. Гарантує свіжість стрічки</a:t>
              </a:r>
            </a:p>
            <a:p>
              <a:pPr marL="0" indent="0">
                <a:lnSpc>
                  <a:spcPct val="130000"/>
                </a:lnSpc>
                <a:buNone/>
              </a:pPr>
              <a:r>
                <a:rPr lang="ru-RU" sz="1000" dirty="0">
                  <a:latin typeface="Times New Roman" panose="02020603050405020304" pitchFamily="18" charset="0"/>
                  <a:ea typeface="Calibri" pitchFamily="34" charset="-122"/>
                  <a:cs typeface="Times New Roman" panose="02020603050405020304" pitchFamily="18" charset="0"/>
                </a:rPr>
                <a:t>Мах = 1.0 для нових (1 доба), </a:t>
              </a:r>
            </a:p>
            <a:p>
              <a:pPr>
                <a:lnSpc>
                  <a:spcPct val="130000"/>
                </a:lnSpc>
              </a:pPr>
              <a:r>
                <a:rPr lang="en-US" sz="1000" dirty="0">
                  <a:latin typeface="Times New Roman" panose="02020603050405020304" pitchFamily="18" charset="0"/>
                  <a:ea typeface="Calibri" pitchFamily="34" charset="-122"/>
                  <a:cs typeface="Times New Roman" panose="02020603050405020304" pitchFamily="18" charset="0"/>
                </a:rPr>
                <a:t>&lt;</a:t>
              </a:r>
              <a:r>
                <a:rPr lang="ru-RU" sz="1000" dirty="0">
                  <a:latin typeface="Times New Roman" panose="02020603050405020304" pitchFamily="18" charset="0"/>
                  <a:ea typeface="Calibri" pitchFamily="34" charset="-122"/>
                  <a:cs typeface="Times New Roman" panose="02020603050405020304" pitchFamily="18" charset="0"/>
                </a:rPr>
                <a:t>10 днів → 0.5,</a:t>
              </a:r>
            </a:p>
            <a:p>
              <a:pPr>
                <a:lnSpc>
                  <a:spcPct val="130000"/>
                </a:lnSpc>
              </a:pPr>
              <a:r>
                <a:rPr lang="en-US" sz="1000" dirty="0">
                  <a:latin typeface="Times New Roman" panose="02020603050405020304" pitchFamily="18" charset="0"/>
                  <a:ea typeface="Calibri" pitchFamily="34" charset="-122"/>
                  <a:cs typeface="Times New Roman" panose="02020603050405020304" pitchFamily="18" charset="0"/>
                </a:rPr>
                <a:t>&lt;</a:t>
              </a:r>
              <a:r>
                <a:rPr lang="ru-RU" sz="1000" dirty="0">
                  <a:latin typeface="Times New Roman" panose="02020603050405020304" pitchFamily="18" charset="0"/>
                  <a:ea typeface="Calibri" pitchFamily="34" charset="-122"/>
                  <a:cs typeface="Times New Roman" panose="02020603050405020304" pitchFamily="18" charset="0"/>
                </a:rPr>
                <a:t>30 днів → 0.25</a:t>
              </a:r>
              <a:r>
                <a:rPr lang="en-US" sz="1000" dirty="0">
                  <a:latin typeface="Times New Roman" panose="02020603050405020304" pitchFamily="18" charset="0"/>
                  <a:ea typeface="Calibri" pitchFamily="34" charset="-122"/>
                  <a:cs typeface="Times New Roman" panose="02020603050405020304" pitchFamily="18" charset="0"/>
                </a:rPr>
                <a:t>, </a:t>
              </a:r>
              <a:endParaRPr lang="ru-RU" sz="1000" dirty="0">
                <a:latin typeface="Times New Roman" panose="02020603050405020304" pitchFamily="18" charset="0"/>
                <a:ea typeface="Calibri" pitchFamily="34" charset="-122"/>
                <a:cs typeface="Times New Roman" panose="02020603050405020304" pitchFamily="18" charset="0"/>
              </a:endParaRPr>
            </a:p>
            <a:p>
              <a:pPr>
                <a:lnSpc>
                  <a:spcPct val="130000"/>
                </a:lnSpc>
              </a:pPr>
              <a:r>
                <a:rPr lang="en-US" sz="1000" dirty="0">
                  <a:latin typeface="Times New Roman" panose="02020603050405020304" pitchFamily="18" charset="0"/>
                  <a:ea typeface="Calibri" pitchFamily="34" charset="-122"/>
                  <a:cs typeface="Times New Roman" panose="02020603050405020304" pitchFamily="18" charset="0"/>
                </a:rPr>
                <a:t>&gt;30 </a:t>
              </a:r>
              <a:r>
                <a:rPr lang="ru-RU" sz="1000" dirty="0">
                  <a:latin typeface="Times New Roman" panose="02020603050405020304" pitchFamily="18" charset="0"/>
                  <a:ea typeface="Calibri" pitchFamily="34" charset="-122"/>
                  <a:cs typeface="Times New Roman" panose="02020603050405020304" pitchFamily="18" charset="0"/>
                </a:rPr>
                <a:t>дн</a:t>
              </a:r>
              <a:r>
                <a:rPr lang="uk-UA" sz="1000" dirty="0">
                  <a:latin typeface="Times New Roman" panose="02020603050405020304" pitchFamily="18" charset="0"/>
                  <a:ea typeface="Calibri" pitchFamily="34" charset="-122"/>
                  <a:cs typeface="Times New Roman" panose="02020603050405020304" pitchFamily="18" charset="0"/>
                </a:rPr>
                <a:t>ів</a:t>
              </a:r>
              <a:r>
                <a:rPr lang="ru-RU" sz="1000" dirty="0">
                  <a:latin typeface="Times New Roman" panose="02020603050405020304" pitchFamily="18" charset="0"/>
                  <a:ea typeface="Calibri" pitchFamily="34" charset="-122"/>
                  <a:cs typeface="Times New Roman" panose="02020603050405020304" pitchFamily="18" charset="0"/>
                </a:rPr>
                <a:t> → 0.1</a:t>
              </a:r>
              <a:r>
                <a:rPr lang="en-US" sz="1000" dirty="0">
                  <a:latin typeface="Times New Roman" panose="02020603050405020304" pitchFamily="18" charset="0"/>
                  <a:ea typeface="Calibri" pitchFamily="34" charset="-122"/>
                  <a:cs typeface="Times New Roman" panose="02020603050405020304" pitchFamily="18" charset="0"/>
                </a:rPr>
                <a:t> </a:t>
              </a:r>
              <a:endParaRPr lang="ru-RU" sz="1000" dirty="0">
                <a:latin typeface="Times New Roman" panose="02020603050405020304" pitchFamily="18" charset="0"/>
                <a:ea typeface="Calibri" pitchFamily="34" charset="-122"/>
                <a:cs typeface="Times New Roman" panose="02020603050405020304" pitchFamily="18" charset="0"/>
              </a:endParaRPr>
            </a:p>
            <a:p>
              <a:pPr marL="0" indent="0">
                <a:lnSpc>
                  <a:spcPct val="130000"/>
                </a:lnSpc>
                <a:buNone/>
              </a:pPr>
              <a:r>
                <a:rPr lang="ru-RU" sz="1000" dirty="0">
                  <a:latin typeface="Times New Roman" panose="02020603050405020304" pitchFamily="18" charset="0"/>
                  <a:ea typeface="Calibri" pitchFamily="34" charset="-122"/>
                  <a:cs typeface="Times New Roman" panose="02020603050405020304" pitchFamily="18" charset="0"/>
                </a:rPr>
                <a:t>.</a:t>
              </a:r>
            </a:p>
          </p:txBody>
        </p:sp>
      </p:grpSp>
      <p:sp>
        <p:nvSpPr>
          <p:cNvPr id="38" name="Shape 7">
            <a:extLst>
              <a:ext uri="{FF2B5EF4-FFF2-40B4-BE49-F238E27FC236}">
                <a16:creationId xmlns:a16="http://schemas.microsoft.com/office/drawing/2014/main" id="{19B69762-5DB4-14C8-10F8-1322685BDD4E}"/>
              </a:ext>
            </a:extLst>
          </p:cNvPr>
          <p:cNvSpPr/>
          <p:nvPr/>
        </p:nvSpPr>
        <p:spPr>
          <a:xfrm>
            <a:off x="2622259" y="2670077"/>
            <a:ext cx="411478" cy="411478"/>
          </a:xfrm>
          <a:prstGeom prst="ellipse">
            <a:avLst/>
          </a:prstGeom>
          <a:solidFill>
            <a:srgbClr val="2F5597"/>
          </a:solidFill>
          <a:ln w="12700">
            <a:solidFill>
              <a:schemeClr val="accent5">
                <a:lumMod val="75000"/>
              </a:schemeClr>
            </a:solidFill>
            <a:prstDash val="solid"/>
          </a:ln>
        </p:spPr>
        <p:txBody>
          <a:bodyPr/>
          <a:lstStyle/>
          <a:p>
            <a:endParaRPr lang="en-US" dirty="0"/>
          </a:p>
        </p:txBody>
      </p:sp>
      <p:sp>
        <p:nvSpPr>
          <p:cNvPr id="39" name="Text 8">
            <a:extLst>
              <a:ext uri="{FF2B5EF4-FFF2-40B4-BE49-F238E27FC236}">
                <a16:creationId xmlns:a16="http://schemas.microsoft.com/office/drawing/2014/main" id="{7CDA7BF2-0A62-AA6A-85B2-7C96870B2EE3}"/>
              </a:ext>
            </a:extLst>
          </p:cNvPr>
          <p:cNvSpPr/>
          <p:nvPr/>
        </p:nvSpPr>
        <p:spPr>
          <a:xfrm>
            <a:off x="2650370" y="2659794"/>
            <a:ext cx="411478" cy="411478"/>
          </a:xfrm>
          <a:prstGeom prst="rect">
            <a:avLst/>
          </a:prstGeom>
          <a:noFill/>
          <a:ln/>
        </p:spPr>
        <p:txBody>
          <a:bodyPr wrap="square" lIns="0" tIns="0" rIns="0" bIns="0" rtlCol="0" anchor="ctr"/>
          <a:lstStyle/>
          <a:p>
            <a:pPr marL="0" indent="0" algn="ctr">
              <a:buNone/>
            </a:pPr>
            <a:r>
              <a:rPr lang="en-US" sz="1100" b="1" dirty="0">
                <a:solidFill>
                  <a:srgbClr val="0D1B2A"/>
                </a:solidFill>
                <a:latin typeface="Times New Roman" panose="02020603050405020304" pitchFamily="18" charset="0"/>
                <a:ea typeface="Calibri" pitchFamily="34" charset="-122"/>
                <a:cs typeface="Times New Roman" panose="02020603050405020304" pitchFamily="18" charset="0"/>
              </a:rPr>
              <a:t>70%</a:t>
            </a:r>
            <a:endParaRPr lang="en-US" sz="1100" dirty="0">
              <a:latin typeface="Times New Roman" panose="02020603050405020304" pitchFamily="18" charset="0"/>
              <a:cs typeface="Times New Roman" panose="02020603050405020304" pitchFamily="18" charset="0"/>
            </a:endParaRPr>
          </a:p>
        </p:txBody>
      </p:sp>
      <p:sp>
        <p:nvSpPr>
          <p:cNvPr id="40" name="Shape 15">
            <a:extLst>
              <a:ext uri="{FF2B5EF4-FFF2-40B4-BE49-F238E27FC236}">
                <a16:creationId xmlns:a16="http://schemas.microsoft.com/office/drawing/2014/main" id="{AA8A3A97-932F-9326-C243-165C41E774FB}"/>
              </a:ext>
            </a:extLst>
          </p:cNvPr>
          <p:cNvSpPr/>
          <p:nvPr/>
        </p:nvSpPr>
        <p:spPr>
          <a:xfrm>
            <a:off x="5453893" y="2665051"/>
            <a:ext cx="429538" cy="429538"/>
          </a:xfrm>
          <a:prstGeom prst="ellipse">
            <a:avLst/>
          </a:prstGeom>
          <a:solidFill>
            <a:srgbClr val="FFC000"/>
          </a:solidFill>
          <a:ln w="12700">
            <a:solidFill>
              <a:srgbClr val="FFC000"/>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41" name="Text 16">
            <a:extLst>
              <a:ext uri="{FF2B5EF4-FFF2-40B4-BE49-F238E27FC236}">
                <a16:creationId xmlns:a16="http://schemas.microsoft.com/office/drawing/2014/main" id="{3FF913B6-9E23-EF70-7335-C35E5D1AC453}"/>
              </a:ext>
            </a:extLst>
          </p:cNvPr>
          <p:cNvSpPr/>
          <p:nvPr/>
        </p:nvSpPr>
        <p:spPr>
          <a:xfrm>
            <a:off x="5453893" y="2665051"/>
            <a:ext cx="429538" cy="429538"/>
          </a:xfrm>
          <a:prstGeom prst="rect">
            <a:avLst/>
          </a:prstGeom>
          <a:noFill/>
          <a:ln/>
        </p:spPr>
        <p:txBody>
          <a:bodyPr wrap="square" lIns="0" tIns="0" rIns="0" bIns="0" rtlCol="0" anchor="ctr"/>
          <a:lstStyle/>
          <a:p>
            <a:pPr marL="0" indent="0" algn="ctr">
              <a:buNone/>
            </a:pPr>
            <a:r>
              <a:rPr lang="en-US" sz="1100" b="1" dirty="0">
                <a:solidFill>
                  <a:srgbClr val="0D1B2A"/>
                </a:solidFill>
                <a:latin typeface="Times New Roman" panose="02020603050405020304" pitchFamily="18" charset="0"/>
                <a:ea typeface="Calibri" pitchFamily="34" charset="-122"/>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p:txBody>
      </p:sp>
      <p:sp>
        <p:nvSpPr>
          <p:cNvPr id="42" name="Text 17">
            <a:extLst>
              <a:ext uri="{FF2B5EF4-FFF2-40B4-BE49-F238E27FC236}">
                <a16:creationId xmlns:a16="http://schemas.microsoft.com/office/drawing/2014/main" id="{3D2F4374-FF3F-0256-EF37-D2438E36BEE6}"/>
              </a:ext>
            </a:extLst>
          </p:cNvPr>
          <p:cNvSpPr/>
          <p:nvPr/>
        </p:nvSpPr>
        <p:spPr>
          <a:xfrm>
            <a:off x="3440568" y="2816493"/>
            <a:ext cx="1310230" cy="309347"/>
          </a:xfrm>
          <a:prstGeom prst="rect">
            <a:avLst/>
          </a:prstGeom>
          <a:noFill/>
          <a:ln/>
        </p:spPr>
        <p:txBody>
          <a:bodyPr wrap="square" rtlCol="0" anchor="ctr"/>
          <a:lstStyle/>
          <a:p>
            <a:pPr marL="0" indent="0">
              <a:buNone/>
            </a:pPr>
            <a:r>
              <a:rPr lang="en-US" sz="1400" b="1" dirty="0">
                <a:solidFill>
                  <a:srgbClr val="FFC000"/>
                </a:solidFill>
                <a:latin typeface="Times New Roman" panose="02020603050405020304" pitchFamily="18" charset="0"/>
                <a:ea typeface="Calibri" pitchFamily="34" charset="-122"/>
                <a:cs typeface="Times New Roman" panose="02020603050405020304" pitchFamily="18" charset="0"/>
              </a:rPr>
              <a:t>Recency Score</a:t>
            </a:r>
            <a:endParaRPr lang="en-US" sz="1400" dirty="0">
              <a:solidFill>
                <a:srgbClr val="FFC000"/>
              </a:solidFill>
              <a:latin typeface="Times New Roman" panose="02020603050405020304" pitchFamily="18" charset="0"/>
              <a:cs typeface="Times New Roman" panose="02020603050405020304" pitchFamily="18" charset="0"/>
            </a:endParaRPr>
          </a:p>
        </p:txBody>
      </p:sp>
      <p:sp>
        <p:nvSpPr>
          <p:cNvPr id="43" name="Shape 23">
            <a:extLst>
              <a:ext uri="{FF2B5EF4-FFF2-40B4-BE49-F238E27FC236}">
                <a16:creationId xmlns:a16="http://schemas.microsoft.com/office/drawing/2014/main" id="{220F90D4-2E90-2978-C7AA-46D934AFC6A5}"/>
              </a:ext>
            </a:extLst>
          </p:cNvPr>
          <p:cNvSpPr/>
          <p:nvPr/>
        </p:nvSpPr>
        <p:spPr>
          <a:xfrm>
            <a:off x="8233584" y="2679588"/>
            <a:ext cx="429538" cy="429538"/>
          </a:xfrm>
          <a:prstGeom prst="ellipse">
            <a:avLst/>
          </a:prstGeom>
          <a:solidFill>
            <a:srgbClr val="FF6B6B"/>
          </a:solidFill>
          <a:ln w="12700">
            <a:solidFill>
              <a:srgbClr val="FF6B6B"/>
            </a:solidFill>
            <a:prstDash val="solid"/>
          </a:ln>
        </p:spPr>
      </p:sp>
      <p:sp>
        <p:nvSpPr>
          <p:cNvPr id="44" name="Text 24">
            <a:extLst>
              <a:ext uri="{FF2B5EF4-FFF2-40B4-BE49-F238E27FC236}">
                <a16:creationId xmlns:a16="http://schemas.microsoft.com/office/drawing/2014/main" id="{DD865F1E-039B-9C04-358B-9D433586756D}"/>
              </a:ext>
            </a:extLst>
          </p:cNvPr>
          <p:cNvSpPr/>
          <p:nvPr/>
        </p:nvSpPr>
        <p:spPr>
          <a:xfrm>
            <a:off x="8233584" y="2679588"/>
            <a:ext cx="429538" cy="429538"/>
          </a:xfrm>
          <a:prstGeom prst="rect">
            <a:avLst/>
          </a:prstGeom>
          <a:noFill/>
          <a:ln/>
        </p:spPr>
        <p:txBody>
          <a:bodyPr wrap="square" lIns="0" tIns="0" rIns="0" bIns="0" rtlCol="0" anchor="ctr"/>
          <a:lstStyle/>
          <a:p>
            <a:pPr marL="0" indent="0" algn="ctr">
              <a:buNone/>
            </a:pPr>
            <a:r>
              <a:rPr lang="en-US" sz="1100" b="1" dirty="0">
                <a:solidFill>
                  <a:srgbClr val="0D1B2A"/>
                </a:solidFill>
                <a:latin typeface="Times New Roman" panose="02020603050405020304" pitchFamily="18" charset="0"/>
                <a:ea typeface="Calibri" pitchFamily="34" charset="-122"/>
                <a:cs typeface="Times New Roman" panose="02020603050405020304" pitchFamily="18" charset="0"/>
              </a:rPr>
              <a:t>10%</a:t>
            </a:r>
            <a:endParaRPr lang="en-US" sz="1100" dirty="0">
              <a:latin typeface="Times New Roman" panose="02020603050405020304" pitchFamily="18" charset="0"/>
              <a:cs typeface="Times New Roman" panose="02020603050405020304" pitchFamily="18" charset="0"/>
            </a:endParaRPr>
          </a:p>
        </p:txBody>
      </p:sp>
      <p:sp>
        <p:nvSpPr>
          <p:cNvPr id="45" name="Text 25">
            <a:extLst>
              <a:ext uri="{FF2B5EF4-FFF2-40B4-BE49-F238E27FC236}">
                <a16:creationId xmlns:a16="http://schemas.microsoft.com/office/drawing/2014/main" id="{69F32931-16BF-C195-FA4A-DE5FBC72314F}"/>
              </a:ext>
            </a:extLst>
          </p:cNvPr>
          <p:cNvSpPr/>
          <p:nvPr/>
        </p:nvSpPr>
        <p:spPr>
          <a:xfrm>
            <a:off x="6226173" y="2763844"/>
            <a:ext cx="1421189" cy="384048"/>
          </a:xfrm>
          <a:prstGeom prst="rect">
            <a:avLst/>
          </a:prstGeom>
          <a:noFill/>
          <a:ln/>
        </p:spPr>
        <p:txBody>
          <a:bodyPr wrap="square" rtlCol="0" anchor="ctr"/>
          <a:lstStyle/>
          <a:p>
            <a:pPr marL="0" indent="0">
              <a:buNone/>
            </a:pPr>
            <a:r>
              <a:rPr lang="en-US" sz="1400" b="1" dirty="0">
                <a:solidFill>
                  <a:srgbClr val="FF6B6B"/>
                </a:solidFill>
                <a:latin typeface="Times New Roman" panose="02020603050405020304" pitchFamily="18" charset="0"/>
                <a:ea typeface="Calibri" pitchFamily="34" charset="-122"/>
                <a:cs typeface="Times New Roman" panose="02020603050405020304" pitchFamily="18" charset="0"/>
              </a:rPr>
              <a:t>Popularity Score</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8269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Прямокутник 19">
            <a:extLst>
              <a:ext uri="{FF2B5EF4-FFF2-40B4-BE49-F238E27FC236}">
                <a16:creationId xmlns:a16="http://schemas.microsoft.com/office/drawing/2014/main" id="{A00178B8-A412-89F2-56DA-4DF069076719}"/>
              </a:ext>
            </a:extLst>
          </p:cNvPr>
          <p:cNvSpPr/>
          <p:nvPr/>
        </p:nvSpPr>
        <p:spPr>
          <a:xfrm>
            <a:off x="615462" y="1509173"/>
            <a:ext cx="2435470" cy="2202473"/>
          </a:xfrm>
          <a:prstGeom prst="rect">
            <a:avLst/>
          </a:prstGeom>
          <a:solidFill>
            <a:schemeClr val="bg1"/>
          </a:solidFill>
          <a:ln>
            <a:solidFill>
              <a:srgbClr val="2F5597"/>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 name="Заголовок 1"/>
          <p:cNvSpPr>
            <a:spLocks noGrp="1"/>
          </p:cNvSpPr>
          <p:nvPr>
            <p:ph type="title"/>
          </p:nvPr>
        </p:nvSpPr>
        <p:spPr/>
        <p:txBody>
          <a:bodyPr/>
          <a:lstStyle/>
          <a:p>
            <a:r>
              <a:rPr lang="uk-UA" dirty="0">
                <a:latin typeface="Times New Roman" panose="02020603050405020304" pitchFamily="18" charset="0"/>
                <a:cs typeface="Times New Roman" panose="02020603050405020304" pitchFamily="18" charset="0"/>
              </a:rPr>
              <a:t>Генерація тегів за допомогою </a:t>
            </a:r>
            <a:r>
              <a:rPr lang="en-US" dirty="0">
                <a:latin typeface="Times New Roman" panose="02020603050405020304" pitchFamily="18" charset="0"/>
                <a:cs typeface="Times New Roman" panose="02020603050405020304" pitchFamily="18" charset="0"/>
              </a:rPr>
              <a:t>NLP</a:t>
            </a:r>
          </a:p>
        </p:txBody>
      </p:sp>
      <p:sp>
        <p:nvSpPr>
          <p:cNvPr id="3" name="Подзаголовок 2"/>
          <p:cNvSpPr>
            <a:spLocks noGrp="1"/>
          </p:cNvSpPr>
          <p:nvPr>
            <p:ph type="subTitle" idx="1"/>
          </p:nvPr>
        </p:nvSpPr>
        <p:spPr>
          <a:xfrm>
            <a:off x="988509" y="2042420"/>
            <a:ext cx="1534884" cy="335702"/>
          </a:xfrm>
          <a:ln>
            <a:solidFill>
              <a:srgbClr val="2F5597"/>
            </a:solidFill>
          </a:ln>
        </p:spPr>
        <p:txBody>
          <a:bodyPr/>
          <a:lstStyle/>
          <a:p>
            <a:r>
              <a:rPr lang="en-US" sz="1100" dirty="0">
                <a:ln w="0"/>
                <a:solidFill>
                  <a:srgbClr val="2F5597"/>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all-MiniLM-L6-v2</a:t>
            </a:r>
          </a:p>
        </p:txBody>
      </p:sp>
      <p:sp>
        <p:nvSpPr>
          <p:cNvPr id="4" name="Подзаголовок 3"/>
          <p:cNvSpPr>
            <a:spLocks noGrp="1"/>
          </p:cNvSpPr>
          <p:nvPr>
            <p:ph type="subTitle" idx="2"/>
          </p:nvPr>
        </p:nvSpPr>
        <p:spPr>
          <a:xfrm>
            <a:off x="462645" y="1442326"/>
            <a:ext cx="2400300" cy="523200"/>
          </a:xfrm>
        </p:spPr>
        <p:txBody>
          <a:bodyPr/>
          <a:lstStyle/>
          <a:p>
            <a:r>
              <a:rPr lang="uk-UA" sz="1600" b="1" dirty="0">
                <a:solidFill>
                  <a:srgbClr val="2F5597"/>
                </a:solidFill>
                <a:latin typeface="Times New Roman" panose="02020603050405020304" pitchFamily="18" charset="0"/>
                <a:cs typeface="Times New Roman" panose="02020603050405020304" pitchFamily="18" charset="0"/>
              </a:rPr>
              <a:t>Векторизація</a:t>
            </a:r>
            <a:endParaRPr lang="en-US" sz="1600" b="1" dirty="0">
              <a:solidFill>
                <a:srgbClr val="2F5597"/>
              </a:solidFill>
              <a:latin typeface="Times New Roman" panose="02020603050405020304" pitchFamily="18" charset="0"/>
              <a:cs typeface="Times New Roman" panose="02020603050405020304" pitchFamily="18" charset="0"/>
            </a:endParaRPr>
          </a:p>
        </p:txBody>
      </p:sp>
      <p:sp>
        <p:nvSpPr>
          <p:cNvPr id="15" name="Місце для номера слайда 14">
            <a:extLst>
              <a:ext uri="{FF2B5EF4-FFF2-40B4-BE49-F238E27FC236}">
                <a16:creationId xmlns:a16="http://schemas.microsoft.com/office/drawing/2014/main" id="{064685A9-5123-5EBC-FAAD-1046DD79D552}"/>
              </a:ext>
            </a:extLst>
          </p:cNvPr>
          <p:cNvSpPr>
            <a:spLocks noGrp="1"/>
          </p:cNvSpPr>
          <p:nvPr>
            <p:ph type="sldNum" sz="quarter" idx="17"/>
          </p:nvPr>
        </p:nvSpPr>
        <p:spPr/>
        <p:txBody>
          <a:bodyPr/>
          <a:lstStyle/>
          <a:p>
            <a:fld id="{A671A442-F593-47BC-B30B-7A4E30DC514C}" type="slidenum">
              <a:rPr lang="en-US" smtClean="0"/>
              <a:t>11</a:t>
            </a:fld>
            <a:endParaRPr lang="en-US" dirty="0"/>
          </a:p>
        </p:txBody>
      </p:sp>
      <p:sp>
        <p:nvSpPr>
          <p:cNvPr id="17" name="Google Shape;527;p55">
            <a:extLst>
              <a:ext uri="{FF2B5EF4-FFF2-40B4-BE49-F238E27FC236}">
                <a16:creationId xmlns:a16="http://schemas.microsoft.com/office/drawing/2014/main" id="{0FA674A6-E37B-265B-E320-5DE0F0C22E5A}"/>
              </a:ext>
            </a:extLst>
          </p:cNvPr>
          <p:cNvSpPr txBox="1">
            <a:spLocks/>
          </p:cNvSpPr>
          <p:nvPr/>
        </p:nvSpPr>
        <p:spPr>
          <a:xfrm>
            <a:off x="650632" y="2647777"/>
            <a:ext cx="2400300" cy="10054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1pPr>
            <a:lvl2pPr marL="914400" marR="0" lvl="1"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2pPr>
            <a:lvl3pPr marL="1371600" marR="0" lvl="2"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3pPr>
            <a:lvl4pPr marL="1828800" marR="0" lvl="3"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4pPr>
            <a:lvl5pPr marL="2286000" marR="0" lvl="4"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5pPr>
            <a:lvl6pPr marL="2743200" marR="0" lvl="5"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6pPr>
            <a:lvl7pPr marL="3200400" marR="0" lvl="6"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7pPr>
            <a:lvl8pPr marL="3657600" marR="0" lvl="7"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8pPr>
            <a:lvl9pPr marL="4114800" marR="0" lvl="8"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9pPr>
          </a:lstStyle>
          <a:p>
            <a:pPr marL="0" indent="0" algn="l"/>
            <a:r>
              <a:rPr lang="ru-RU" sz="1100" dirty="0">
                <a:solidFill>
                  <a:srgbClr val="2F5597"/>
                </a:solidFill>
                <a:latin typeface="Times New Roman" panose="02020603050405020304" pitchFamily="18" charset="0"/>
                <a:cs typeface="Times New Roman" panose="02020603050405020304" pitchFamily="18" charset="0"/>
              </a:rPr>
              <a:t>Трансформерна модель перетворює текст на вектор розмірністю 384 виміри. Семантично близькі поняття мають близькі вектори у просторі.</a:t>
            </a:r>
            <a:endParaRPr lang="en-US" sz="1100" dirty="0">
              <a:solidFill>
                <a:srgbClr val="2F5597"/>
              </a:solidFill>
              <a:latin typeface="Times New Roman" panose="02020603050405020304" pitchFamily="18" charset="0"/>
              <a:cs typeface="Times New Roman" panose="02020603050405020304" pitchFamily="18" charset="0"/>
            </a:endParaRPr>
          </a:p>
        </p:txBody>
      </p:sp>
      <p:sp>
        <p:nvSpPr>
          <p:cNvPr id="21" name="Прямокутник 20">
            <a:extLst>
              <a:ext uri="{FF2B5EF4-FFF2-40B4-BE49-F238E27FC236}">
                <a16:creationId xmlns:a16="http://schemas.microsoft.com/office/drawing/2014/main" id="{A82E1283-3A1A-E8BF-5A77-3DD65798527B}"/>
              </a:ext>
            </a:extLst>
          </p:cNvPr>
          <p:cNvSpPr/>
          <p:nvPr/>
        </p:nvSpPr>
        <p:spPr>
          <a:xfrm>
            <a:off x="3388809" y="1509173"/>
            <a:ext cx="2435470" cy="2202473"/>
          </a:xfrm>
          <a:prstGeom prst="rect">
            <a:avLst/>
          </a:prstGeom>
          <a:solidFill>
            <a:schemeClr val="bg1"/>
          </a:solidFill>
          <a:ln>
            <a:solidFill>
              <a:srgbClr val="F1852B"/>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2" name="Подзаголовок 2">
            <a:extLst>
              <a:ext uri="{FF2B5EF4-FFF2-40B4-BE49-F238E27FC236}">
                <a16:creationId xmlns:a16="http://schemas.microsoft.com/office/drawing/2014/main" id="{D208EF93-615E-CB96-EB6C-81A448A1E16A}"/>
              </a:ext>
            </a:extLst>
          </p:cNvPr>
          <p:cNvSpPr txBox="1">
            <a:spLocks/>
          </p:cNvSpPr>
          <p:nvPr/>
        </p:nvSpPr>
        <p:spPr>
          <a:xfrm>
            <a:off x="3623377" y="2042223"/>
            <a:ext cx="1966333" cy="335702"/>
          </a:xfrm>
          <a:prstGeom prst="rect">
            <a:avLst/>
          </a:prstGeom>
          <a:noFill/>
          <a:ln>
            <a:solidFill>
              <a:srgbClr val="F1852B"/>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1pPr>
            <a:lvl2pPr marL="914400" marR="0" lvl="1"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2pPr>
            <a:lvl3pPr marL="1371600" marR="0" lvl="2"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3pPr>
            <a:lvl4pPr marL="1828800" marR="0" lvl="3"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4pPr>
            <a:lvl5pPr marL="2286000" marR="0" lvl="4"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5pPr>
            <a:lvl6pPr marL="2743200" marR="0" lvl="5"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6pPr>
            <a:lvl7pPr marL="3200400" marR="0" lvl="6"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7pPr>
            <a:lvl8pPr marL="3657600" marR="0" lvl="7"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8pPr>
            <a:lvl9pPr marL="4114800" marR="0" lvl="8"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9pPr>
          </a:lstStyle>
          <a:p>
            <a:r>
              <a:rPr lang="en-US" sz="1100" dirty="0">
                <a:ln w="0"/>
                <a:solidFill>
                  <a:srgbClr val="F1852B"/>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Cosine Similarity + MMR</a:t>
            </a:r>
          </a:p>
        </p:txBody>
      </p:sp>
      <p:sp>
        <p:nvSpPr>
          <p:cNvPr id="23" name="Подзаголовок 3">
            <a:extLst>
              <a:ext uri="{FF2B5EF4-FFF2-40B4-BE49-F238E27FC236}">
                <a16:creationId xmlns:a16="http://schemas.microsoft.com/office/drawing/2014/main" id="{50A0C1A8-2C09-F4CC-73D2-76D60A9B461E}"/>
              </a:ext>
            </a:extLst>
          </p:cNvPr>
          <p:cNvSpPr txBox="1">
            <a:spLocks/>
          </p:cNvSpPr>
          <p:nvPr/>
        </p:nvSpPr>
        <p:spPr>
          <a:xfrm>
            <a:off x="3235992" y="1442326"/>
            <a:ext cx="2400300" cy="523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Golos Text SemiBold"/>
              <a:buNone/>
              <a:defRPr sz="2200" b="0" i="0" u="none" strike="noStrike" cap="none">
                <a:solidFill>
                  <a:schemeClr val="dk1"/>
                </a:solidFill>
                <a:latin typeface="Golos Text"/>
                <a:ea typeface="Golos Text"/>
                <a:cs typeface="Golos Text"/>
                <a:sym typeface="Golos Text"/>
              </a:defRPr>
            </a:lvl1pPr>
            <a:lvl2pPr marL="914400" marR="0" lvl="1"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2pPr>
            <a:lvl3pPr marL="1371600" marR="0" lvl="2"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3pPr>
            <a:lvl4pPr marL="1828800" marR="0" lvl="3"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4pPr>
            <a:lvl5pPr marL="2286000" marR="0" lvl="4"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5pPr>
            <a:lvl6pPr marL="2743200" marR="0" lvl="5"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6pPr>
            <a:lvl7pPr marL="3200400" marR="0" lvl="6"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7pPr>
            <a:lvl8pPr marL="3657600" marR="0" lvl="7"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8pPr>
            <a:lvl9pPr marL="4114800" marR="0" lvl="8"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9pPr>
          </a:lstStyle>
          <a:p>
            <a:r>
              <a:rPr lang="uk-UA" sz="1600" b="1" dirty="0">
                <a:solidFill>
                  <a:srgbClr val="F1852B"/>
                </a:solidFill>
                <a:latin typeface="Times New Roman" panose="02020603050405020304" pitchFamily="18" charset="0"/>
                <a:cs typeface="Times New Roman" panose="02020603050405020304" pitchFamily="18" charset="0"/>
              </a:rPr>
              <a:t>Порівняння</a:t>
            </a:r>
            <a:endParaRPr lang="en-US" sz="1600" b="1" dirty="0">
              <a:solidFill>
                <a:srgbClr val="F1852B"/>
              </a:solidFill>
              <a:latin typeface="Times New Roman" panose="02020603050405020304" pitchFamily="18" charset="0"/>
              <a:cs typeface="Times New Roman" panose="02020603050405020304" pitchFamily="18" charset="0"/>
            </a:endParaRPr>
          </a:p>
        </p:txBody>
      </p:sp>
      <p:sp>
        <p:nvSpPr>
          <p:cNvPr id="24" name="Google Shape;527;p55">
            <a:extLst>
              <a:ext uri="{FF2B5EF4-FFF2-40B4-BE49-F238E27FC236}">
                <a16:creationId xmlns:a16="http://schemas.microsoft.com/office/drawing/2014/main" id="{B8854D91-7D8F-B47B-4E7E-8904F5AFD70E}"/>
              </a:ext>
            </a:extLst>
          </p:cNvPr>
          <p:cNvSpPr txBox="1">
            <a:spLocks/>
          </p:cNvSpPr>
          <p:nvPr/>
        </p:nvSpPr>
        <p:spPr>
          <a:xfrm>
            <a:off x="3423979" y="2647777"/>
            <a:ext cx="2400300" cy="10054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1pPr>
            <a:lvl2pPr marL="914400" marR="0" lvl="1"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2pPr>
            <a:lvl3pPr marL="1371600" marR="0" lvl="2"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3pPr>
            <a:lvl4pPr marL="1828800" marR="0" lvl="3"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4pPr>
            <a:lvl5pPr marL="2286000" marR="0" lvl="4"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5pPr>
            <a:lvl6pPr marL="2743200" marR="0" lvl="5"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6pPr>
            <a:lvl7pPr marL="3200400" marR="0" lvl="6"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7pPr>
            <a:lvl8pPr marL="3657600" marR="0" lvl="7"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8pPr>
            <a:lvl9pPr marL="4114800" marR="0" lvl="8"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9pPr>
          </a:lstStyle>
          <a:p>
            <a:pPr marL="0" indent="0" algn="l"/>
            <a:r>
              <a:rPr lang="en-US" sz="1100" dirty="0">
                <a:solidFill>
                  <a:srgbClr val="F1852B"/>
                </a:solidFill>
                <a:latin typeface="Times New Roman" panose="02020603050405020304" pitchFamily="18" charset="0"/>
                <a:cs typeface="Times New Roman" panose="02020603050405020304" pitchFamily="18" charset="0"/>
              </a:rPr>
              <a:t>KeyBERT </a:t>
            </a:r>
            <a:r>
              <a:rPr lang="ru-RU" sz="1100" dirty="0">
                <a:solidFill>
                  <a:srgbClr val="F1852B"/>
                </a:solidFill>
                <a:latin typeface="Times New Roman" panose="02020603050405020304" pitchFamily="18" charset="0"/>
                <a:cs typeface="Times New Roman" panose="02020603050405020304" pitchFamily="18" charset="0"/>
              </a:rPr>
              <a:t>порівнює вектор кандидата з вектором усього тексту. </a:t>
            </a:r>
            <a:r>
              <a:rPr lang="en-US" sz="1100" dirty="0">
                <a:solidFill>
                  <a:srgbClr val="F1852B"/>
                </a:solidFill>
                <a:latin typeface="Times New Roman" panose="02020603050405020304" pitchFamily="18" charset="0"/>
                <a:cs typeface="Times New Roman" panose="02020603050405020304" pitchFamily="18" charset="0"/>
              </a:rPr>
              <a:t>MMR (diversity = 0.7) </a:t>
            </a:r>
            <a:r>
              <a:rPr lang="ru-RU" sz="1100" dirty="0">
                <a:solidFill>
                  <a:srgbClr val="F1852B"/>
                </a:solidFill>
                <a:latin typeface="Times New Roman" panose="02020603050405020304" pitchFamily="18" charset="0"/>
                <a:cs typeface="Times New Roman" panose="02020603050405020304" pitchFamily="18" charset="0"/>
              </a:rPr>
              <a:t>відбирає різноманітні, не схожі між собою теги.</a:t>
            </a:r>
            <a:endParaRPr lang="en-US" sz="1100" dirty="0">
              <a:solidFill>
                <a:srgbClr val="F1852B"/>
              </a:solidFill>
              <a:latin typeface="Times New Roman" panose="02020603050405020304" pitchFamily="18" charset="0"/>
              <a:cs typeface="Times New Roman" panose="02020603050405020304" pitchFamily="18" charset="0"/>
            </a:endParaRPr>
          </a:p>
        </p:txBody>
      </p:sp>
      <p:sp>
        <p:nvSpPr>
          <p:cNvPr id="25" name="Прямокутник 24">
            <a:extLst>
              <a:ext uri="{FF2B5EF4-FFF2-40B4-BE49-F238E27FC236}">
                <a16:creationId xmlns:a16="http://schemas.microsoft.com/office/drawing/2014/main" id="{AA7B33A9-AFE0-A842-1907-04D50EEFBDFA}"/>
              </a:ext>
            </a:extLst>
          </p:cNvPr>
          <p:cNvSpPr/>
          <p:nvPr/>
        </p:nvSpPr>
        <p:spPr>
          <a:xfrm>
            <a:off x="6126986" y="1509173"/>
            <a:ext cx="2435470" cy="2202473"/>
          </a:xfrm>
          <a:prstGeom prst="rect">
            <a:avLst/>
          </a:prstGeom>
          <a:solidFill>
            <a:schemeClr val="bg1"/>
          </a:solidFill>
          <a:ln>
            <a:solidFill>
              <a:srgbClr val="D21414"/>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6" name="Подзаголовок 2">
            <a:extLst>
              <a:ext uri="{FF2B5EF4-FFF2-40B4-BE49-F238E27FC236}">
                <a16:creationId xmlns:a16="http://schemas.microsoft.com/office/drawing/2014/main" id="{11305BC8-314A-9275-780D-70866EE4CDC9}"/>
              </a:ext>
            </a:extLst>
          </p:cNvPr>
          <p:cNvSpPr txBox="1">
            <a:spLocks/>
          </p:cNvSpPr>
          <p:nvPr/>
        </p:nvSpPr>
        <p:spPr>
          <a:xfrm>
            <a:off x="6277714" y="2042420"/>
            <a:ext cx="2169183" cy="335702"/>
          </a:xfrm>
          <a:prstGeom prst="rect">
            <a:avLst/>
          </a:prstGeom>
          <a:noFill/>
          <a:ln>
            <a:solidFill>
              <a:srgbClr val="D21414"/>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1pPr>
            <a:lvl2pPr marL="914400" marR="0" lvl="1"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2pPr>
            <a:lvl3pPr marL="1371600" marR="0" lvl="2"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3pPr>
            <a:lvl4pPr marL="1828800" marR="0" lvl="3"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4pPr>
            <a:lvl5pPr marL="2286000" marR="0" lvl="4"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5pPr>
            <a:lvl6pPr marL="2743200" marR="0" lvl="5"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6pPr>
            <a:lvl7pPr marL="3200400" marR="0" lvl="6"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7pPr>
            <a:lvl8pPr marL="3657600" marR="0" lvl="7"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8pPr>
            <a:lvl9pPr marL="4114800" marR="0" lvl="8"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9pPr>
          </a:lstStyle>
          <a:p>
            <a:r>
              <a:rPr lang="en-US" sz="1100" dirty="0">
                <a:ln w="0"/>
                <a:solidFill>
                  <a:srgbClr val="D21414"/>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spaCy + KeyBERT ensemble</a:t>
            </a:r>
          </a:p>
        </p:txBody>
      </p:sp>
      <p:sp>
        <p:nvSpPr>
          <p:cNvPr id="27" name="Подзаголовок 3">
            <a:extLst>
              <a:ext uri="{FF2B5EF4-FFF2-40B4-BE49-F238E27FC236}">
                <a16:creationId xmlns:a16="http://schemas.microsoft.com/office/drawing/2014/main" id="{DEAC9EA5-3F1F-1016-9567-0E5B5E0A6EED}"/>
              </a:ext>
            </a:extLst>
          </p:cNvPr>
          <p:cNvSpPr txBox="1">
            <a:spLocks/>
          </p:cNvSpPr>
          <p:nvPr/>
        </p:nvSpPr>
        <p:spPr>
          <a:xfrm>
            <a:off x="5974169" y="1442326"/>
            <a:ext cx="2400300" cy="523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Golos Text SemiBold"/>
              <a:buNone/>
              <a:defRPr sz="2200" b="0" i="0" u="none" strike="noStrike" cap="none">
                <a:solidFill>
                  <a:schemeClr val="dk1"/>
                </a:solidFill>
                <a:latin typeface="Golos Text"/>
                <a:ea typeface="Golos Text"/>
                <a:cs typeface="Golos Text"/>
                <a:sym typeface="Golos Text"/>
              </a:defRPr>
            </a:lvl1pPr>
            <a:lvl2pPr marL="914400" marR="0" lvl="1"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2pPr>
            <a:lvl3pPr marL="1371600" marR="0" lvl="2"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3pPr>
            <a:lvl4pPr marL="1828800" marR="0" lvl="3"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4pPr>
            <a:lvl5pPr marL="2286000" marR="0" lvl="4"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5pPr>
            <a:lvl6pPr marL="2743200" marR="0" lvl="5"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6pPr>
            <a:lvl7pPr marL="3200400" marR="0" lvl="6"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7pPr>
            <a:lvl8pPr marL="3657600" marR="0" lvl="7"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8pPr>
            <a:lvl9pPr marL="4114800" marR="0" lvl="8" indent="-317500" algn="ctr" rtl="0">
              <a:lnSpc>
                <a:spcPct val="115000"/>
              </a:lnSpc>
              <a:spcBef>
                <a:spcPts val="0"/>
              </a:spcBef>
              <a:spcAft>
                <a:spcPts val="0"/>
              </a:spcAft>
              <a:buClr>
                <a:schemeClr val="dk1"/>
              </a:buClr>
              <a:buSzPts val="2400"/>
              <a:buFont typeface="Golos Text SemiBold"/>
              <a:buNone/>
              <a:defRPr sz="2400" b="0" i="0" u="none" strike="noStrike" cap="none">
                <a:solidFill>
                  <a:schemeClr val="dk1"/>
                </a:solidFill>
                <a:latin typeface="Golos Text SemiBold"/>
                <a:ea typeface="Golos Text SemiBold"/>
                <a:cs typeface="Golos Text SemiBold"/>
                <a:sym typeface="Golos Text SemiBold"/>
              </a:defRPr>
            </a:lvl9pPr>
          </a:lstStyle>
          <a:p>
            <a:r>
              <a:rPr lang="uk-UA" sz="1600" b="1" dirty="0">
                <a:solidFill>
                  <a:srgbClr val="D21414"/>
                </a:solidFill>
                <a:latin typeface="Times New Roman" panose="02020603050405020304" pitchFamily="18" charset="0"/>
                <a:cs typeface="Times New Roman" panose="02020603050405020304" pitchFamily="18" charset="0"/>
              </a:rPr>
              <a:t>Створення тегів</a:t>
            </a:r>
            <a:endParaRPr lang="en-US" sz="1600" b="1" dirty="0">
              <a:solidFill>
                <a:srgbClr val="D21414"/>
              </a:solidFill>
              <a:latin typeface="Times New Roman" panose="02020603050405020304" pitchFamily="18" charset="0"/>
              <a:cs typeface="Times New Roman" panose="02020603050405020304" pitchFamily="18" charset="0"/>
            </a:endParaRPr>
          </a:p>
        </p:txBody>
      </p:sp>
      <p:sp>
        <p:nvSpPr>
          <p:cNvPr id="28" name="Google Shape;527;p55">
            <a:extLst>
              <a:ext uri="{FF2B5EF4-FFF2-40B4-BE49-F238E27FC236}">
                <a16:creationId xmlns:a16="http://schemas.microsoft.com/office/drawing/2014/main" id="{E77ADF9A-FC83-CEC7-AA41-D8EF030D1482}"/>
              </a:ext>
            </a:extLst>
          </p:cNvPr>
          <p:cNvSpPr txBox="1">
            <a:spLocks/>
          </p:cNvSpPr>
          <p:nvPr/>
        </p:nvSpPr>
        <p:spPr>
          <a:xfrm>
            <a:off x="6162156" y="2647777"/>
            <a:ext cx="2400300" cy="10054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1pPr>
            <a:lvl2pPr marL="914400" marR="0" lvl="1"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2pPr>
            <a:lvl3pPr marL="1371600" marR="0" lvl="2"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3pPr>
            <a:lvl4pPr marL="1828800" marR="0" lvl="3"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4pPr>
            <a:lvl5pPr marL="2286000" marR="0" lvl="4"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5pPr>
            <a:lvl6pPr marL="2743200" marR="0" lvl="5"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6pPr>
            <a:lvl7pPr marL="3200400" marR="0" lvl="6"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7pPr>
            <a:lvl8pPr marL="3657600" marR="0" lvl="7"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8pPr>
            <a:lvl9pPr marL="4114800" marR="0" lvl="8" indent="-317500" algn="ctr" rtl="0">
              <a:lnSpc>
                <a:spcPct val="115000"/>
              </a:lnSpc>
              <a:spcBef>
                <a:spcPts val="0"/>
              </a:spcBef>
              <a:spcAft>
                <a:spcPts val="0"/>
              </a:spcAft>
              <a:buClr>
                <a:schemeClr val="dk1"/>
              </a:buClr>
              <a:buSzPts val="1400"/>
              <a:buFont typeface="Commissioner"/>
              <a:buNone/>
              <a:defRPr sz="1400" b="0" i="0" u="none" strike="noStrike" cap="none">
                <a:solidFill>
                  <a:schemeClr val="dk1"/>
                </a:solidFill>
                <a:latin typeface="Commissioner"/>
                <a:ea typeface="Commissioner"/>
                <a:cs typeface="Commissioner"/>
                <a:sym typeface="Commissioner"/>
              </a:defRPr>
            </a:lvl9pPr>
          </a:lstStyle>
          <a:p>
            <a:pPr marL="0" indent="0" algn="l"/>
            <a:r>
              <a:rPr lang="en-US" sz="1100" dirty="0">
                <a:solidFill>
                  <a:srgbClr val="D21414"/>
                </a:solidFill>
                <a:latin typeface="Times New Roman" panose="02020603050405020304" pitchFamily="18" charset="0"/>
                <a:cs typeface="Times New Roman" panose="02020603050405020304" pitchFamily="18" charset="0"/>
              </a:rPr>
              <a:t>spaCy </a:t>
            </a:r>
            <a:r>
              <a:rPr lang="ru-RU" sz="1100" dirty="0">
                <a:solidFill>
                  <a:srgbClr val="D21414"/>
                </a:solidFill>
                <a:latin typeface="Times New Roman" panose="02020603050405020304" pitchFamily="18" charset="0"/>
                <a:cs typeface="Times New Roman" panose="02020603050405020304" pitchFamily="18" charset="0"/>
              </a:rPr>
              <a:t>визначає іменники та </a:t>
            </a:r>
            <a:r>
              <a:rPr lang="en-US" sz="1100" dirty="0">
                <a:solidFill>
                  <a:srgbClr val="D21414"/>
                </a:solidFill>
                <a:latin typeface="Times New Roman" panose="02020603050405020304" pitchFamily="18" charset="0"/>
                <a:cs typeface="Times New Roman" panose="02020603050405020304" pitchFamily="18" charset="0"/>
              </a:rPr>
              <a:t>noun chunks (</a:t>
            </a:r>
            <a:r>
              <a:rPr lang="ru-RU" sz="1100" dirty="0">
                <a:solidFill>
                  <a:srgbClr val="D21414"/>
                </a:solidFill>
                <a:latin typeface="Times New Roman" panose="02020603050405020304" pitchFamily="18" charset="0"/>
                <a:cs typeface="Times New Roman" panose="02020603050405020304" pitchFamily="18" charset="0"/>
              </a:rPr>
              <a:t>граматику). </a:t>
            </a:r>
            <a:r>
              <a:rPr lang="en-US" sz="1100" dirty="0">
                <a:solidFill>
                  <a:srgbClr val="D21414"/>
                </a:solidFill>
                <a:latin typeface="Times New Roman" panose="02020603050405020304" pitchFamily="18" charset="0"/>
                <a:cs typeface="Times New Roman" panose="02020603050405020304" pitchFamily="18" charset="0"/>
              </a:rPr>
              <a:t>KeyBERT </a:t>
            </a:r>
            <a:r>
              <a:rPr lang="ru-RU" sz="1100" dirty="0">
                <a:solidFill>
                  <a:srgbClr val="D21414"/>
                </a:solidFill>
                <a:latin typeface="Times New Roman" panose="02020603050405020304" pitchFamily="18" charset="0"/>
                <a:cs typeface="Times New Roman" panose="02020603050405020304" pitchFamily="18" charset="0"/>
              </a:rPr>
              <a:t>додає семантично релевантні терміни. Результати нормалізуються та об'єднуються залишаючи 5 тегів.</a:t>
            </a:r>
            <a:endParaRPr lang="en-US" sz="1100" dirty="0">
              <a:solidFill>
                <a:srgbClr val="D21414"/>
              </a:solidFill>
              <a:latin typeface="Times New Roman" panose="02020603050405020304" pitchFamily="18" charset="0"/>
              <a:cs typeface="Times New Roman" panose="02020603050405020304" pitchFamily="18" charset="0"/>
            </a:endParaRPr>
          </a:p>
        </p:txBody>
      </p:sp>
      <p:sp>
        <p:nvSpPr>
          <p:cNvPr id="5" name="Прямокутник 4">
            <a:extLst>
              <a:ext uri="{FF2B5EF4-FFF2-40B4-BE49-F238E27FC236}">
                <a16:creationId xmlns:a16="http://schemas.microsoft.com/office/drawing/2014/main" id="{8A2F1BC5-2343-D7ED-71B7-3432A678D8C4}"/>
              </a:ext>
            </a:extLst>
          </p:cNvPr>
          <p:cNvSpPr/>
          <p:nvPr/>
        </p:nvSpPr>
        <p:spPr>
          <a:xfrm>
            <a:off x="615462" y="3778493"/>
            <a:ext cx="1412566" cy="338554"/>
          </a:xfrm>
          <a:prstGeom prst="rect">
            <a:avLst/>
          </a:prstGeom>
          <a:noFill/>
        </p:spPr>
        <p:txBody>
          <a:bodyPr wrap="none" lIns="91440" tIns="45720" rIns="91440" bIns="45720">
            <a:spAutoFit/>
          </a:bodyPr>
          <a:lstStyle/>
          <a:p>
            <a:pPr algn="ctr"/>
            <a:r>
              <a:rPr lang="uk-UA"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Нормалізація:</a:t>
            </a:r>
          </a:p>
        </p:txBody>
      </p:sp>
      <p:sp>
        <p:nvSpPr>
          <p:cNvPr id="6" name="Прямокутник 5">
            <a:extLst>
              <a:ext uri="{FF2B5EF4-FFF2-40B4-BE49-F238E27FC236}">
                <a16:creationId xmlns:a16="http://schemas.microsoft.com/office/drawing/2014/main" id="{C44684D0-995F-C08E-8392-4DDD91FFD1AE}"/>
              </a:ext>
            </a:extLst>
          </p:cNvPr>
          <p:cNvSpPr/>
          <p:nvPr/>
        </p:nvSpPr>
        <p:spPr>
          <a:xfrm>
            <a:off x="960519" y="4108033"/>
            <a:ext cx="1404551" cy="338554"/>
          </a:xfrm>
          <a:prstGeom prst="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wrap="square" lIns="91440" tIns="45720" rIns="91440" bIns="45720">
            <a:spAutoFit/>
          </a:bodyPr>
          <a:lstStyle/>
          <a:p>
            <a:pPr algn="ctr"/>
            <a:r>
              <a:rPr lang="uk-UA"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Векторизація</a:t>
            </a:r>
          </a:p>
        </p:txBody>
      </p:sp>
      <p:cxnSp>
        <p:nvCxnSpPr>
          <p:cNvPr id="8" name="Пряма зі стрілкою 7">
            <a:extLst>
              <a:ext uri="{FF2B5EF4-FFF2-40B4-BE49-F238E27FC236}">
                <a16:creationId xmlns:a16="http://schemas.microsoft.com/office/drawing/2014/main" id="{A14B8530-C8D6-0C9C-585F-C98E5BCDFE9B}"/>
              </a:ext>
            </a:extLst>
          </p:cNvPr>
          <p:cNvCxnSpPr/>
          <p:nvPr/>
        </p:nvCxnSpPr>
        <p:spPr>
          <a:xfrm>
            <a:off x="2413488" y="4271876"/>
            <a:ext cx="571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Прямокутник 8">
            <a:extLst>
              <a:ext uri="{FF2B5EF4-FFF2-40B4-BE49-F238E27FC236}">
                <a16:creationId xmlns:a16="http://schemas.microsoft.com/office/drawing/2014/main" id="{7BFBB69E-9141-6611-DEB7-8DE19707321A}"/>
              </a:ext>
            </a:extLst>
          </p:cNvPr>
          <p:cNvSpPr/>
          <p:nvPr/>
        </p:nvSpPr>
        <p:spPr>
          <a:xfrm>
            <a:off x="3033258" y="4112428"/>
            <a:ext cx="1212191" cy="338554"/>
          </a:xfrm>
          <a:prstGeom prst="rect">
            <a:avLst/>
          </a:prstGeom>
          <a:ln>
            <a:solidFill>
              <a:srgbClr val="F1852B"/>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uk-UA"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Порівняння</a:t>
            </a:r>
          </a:p>
        </p:txBody>
      </p:sp>
      <p:sp>
        <p:nvSpPr>
          <p:cNvPr id="10" name="Прямокутник 9">
            <a:extLst>
              <a:ext uri="{FF2B5EF4-FFF2-40B4-BE49-F238E27FC236}">
                <a16:creationId xmlns:a16="http://schemas.microsoft.com/office/drawing/2014/main" id="{49ECB50C-54F5-32F5-065A-FC38ECFF1BA7}"/>
              </a:ext>
            </a:extLst>
          </p:cNvPr>
          <p:cNvSpPr/>
          <p:nvPr/>
        </p:nvSpPr>
        <p:spPr>
          <a:xfrm>
            <a:off x="4913637" y="4102599"/>
            <a:ext cx="747320" cy="338554"/>
          </a:xfrm>
          <a:prstGeom prst="rect">
            <a:avLst/>
          </a:prstGeom>
          <a:ln>
            <a:solidFill>
              <a:srgbClr val="D21414"/>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uk-UA"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Відбір</a:t>
            </a:r>
          </a:p>
        </p:txBody>
      </p:sp>
      <p:sp>
        <p:nvSpPr>
          <p:cNvPr id="11" name="Прямокутник 10">
            <a:extLst>
              <a:ext uri="{FF2B5EF4-FFF2-40B4-BE49-F238E27FC236}">
                <a16:creationId xmlns:a16="http://schemas.microsoft.com/office/drawing/2014/main" id="{17D7D0A3-5C04-82CF-A0E7-5B3C328453FC}"/>
              </a:ext>
            </a:extLst>
          </p:cNvPr>
          <p:cNvSpPr/>
          <p:nvPr/>
        </p:nvSpPr>
        <p:spPr>
          <a:xfrm>
            <a:off x="6260363" y="4112428"/>
            <a:ext cx="2286203" cy="338554"/>
          </a:xfrm>
          <a:prstGeom prst="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uk-UA"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Формування результату</a:t>
            </a:r>
          </a:p>
        </p:txBody>
      </p:sp>
      <p:cxnSp>
        <p:nvCxnSpPr>
          <p:cNvPr id="12" name="Пряма зі стрілкою 11">
            <a:extLst>
              <a:ext uri="{FF2B5EF4-FFF2-40B4-BE49-F238E27FC236}">
                <a16:creationId xmlns:a16="http://schemas.microsoft.com/office/drawing/2014/main" id="{5E9D2A73-D959-93D1-C176-FA1EB01AA6CC}"/>
              </a:ext>
            </a:extLst>
          </p:cNvPr>
          <p:cNvCxnSpPr/>
          <p:nvPr/>
        </p:nvCxnSpPr>
        <p:spPr>
          <a:xfrm>
            <a:off x="4302583" y="4294969"/>
            <a:ext cx="571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 зі стрілкою 12">
            <a:extLst>
              <a:ext uri="{FF2B5EF4-FFF2-40B4-BE49-F238E27FC236}">
                <a16:creationId xmlns:a16="http://schemas.microsoft.com/office/drawing/2014/main" id="{95BECDF9-8B75-DF48-4AA2-B9D49F766338}"/>
              </a:ext>
            </a:extLst>
          </p:cNvPr>
          <p:cNvCxnSpPr/>
          <p:nvPr/>
        </p:nvCxnSpPr>
        <p:spPr>
          <a:xfrm>
            <a:off x="5660957" y="4294969"/>
            <a:ext cx="571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498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4000" y="274707"/>
            <a:ext cx="2728686" cy="1053350"/>
          </a:xfrm>
        </p:spPr>
        <p:txBody>
          <a:bodyPr/>
          <a:lstStyle/>
          <a:p>
            <a:r>
              <a:rPr lang="en-US" dirty="0">
                <a:latin typeface="Times New Roman" panose="02020603050405020304" pitchFamily="18" charset="0"/>
                <a:cs typeface="Times New Roman" panose="02020603050405020304" pitchFamily="18" charset="0"/>
              </a:rPr>
              <a:t>ER-</a:t>
            </a:r>
            <a:r>
              <a:rPr lang="uk-UA" dirty="0">
                <a:latin typeface="Times New Roman" panose="02020603050405020304" pitchFamily="18" charset="0"/>
                <a:cs typeface="Times New Roman" panose="02020603050405020304" pitchFamily="18" charset="0"/>
              </a:rPr>
              <a:t>діаграми</a:t>
            </a:r>
            <a:endParaRPr lang="en-US" dirty="0">
              <a:latin typeface="Times New Roman" panose="02020603050405020304" pitchFamily="18" charset="0"/>
              <a:cs typeface="Times New Roman" panose="02020603050405020304" pitchFamily="18" charset="0"/>
            </a:endParaRPr>
          </a:p>
        </p:txBody>
      </p:sp>
      <p:pic>
        <p:nvPicPr>
          <p:cNvPr id="15" name="Picture 5"/>
          <p:cNvPicPr/>
          <p:nvPr/>
        </p:nvPicPr>
        <p:blipFill>
          <a:blip r:embed="rId2"/>
          <a:stretch>
            <a:fillRect/>
          </a:stretch>
        </p:blipFill>
        <p:spPr>
          <a:xfrm>
            <a:off x="2982686" y="75565"/>
            <a:ext cx="6103257" cy="5067935"/>
          </a:xfrm>
          <a:prstGeom prst="rect">
            <a:avLst/>
          </a:prstGeom>
        </p:spPr>
      </p:pic>
      <p:pic>
        <p:nvPicPr>
          <p:cNvPr id="16" name="Рисунок 15"/>
          <p:cNvPicPr/>
          <p:nvPr/>
        </p:nvPicPr>
        <p:blipFill>
          <a:blip r:embed="rId3"/>
          <a:stretch>
            <a:fillRect/>
          </a:stretch>
        </p:blipFill>
        <p:spPr>
          <a:xfrm>
            <a:off x="636181" y="2657573"/>
            <a:ext cx="1264920" cy="1944370"/>
          </a:xfrm>
          <a:prstGeom prst="rect">
            <a:avLst/>
          </a:prstGeom>
        </p:spPr>
      </p:pic>
      <p:sp>
        <p:nvSpPr>
          <p:cNvPr id="3" name="Місце для номера слайда 2">
            <a:extLst>
              <a:ext uri="{FF2B5EF4-FFF2-40B4-BE49-F238E27FC236}">
                <a16:creationId xmlns:a16="http://schemas.microsoft.com/office/drawing/2014/main" id="{8AE340B1-8C02-8007-FE56-9803EF633BCE}"/>
              </a:ext>
            </a:extLst>
          </p:cNvPr>
          <p:cNvSpPr>
            <a:spLocks noGrp="1"/>
          </p:cNvSpPr>
          <p:nvPr>
            <p:ph type="sldNum" sz="quarter" idx="17"/>
          </p:nvPr>
        </p:nvSpPr>
        <p:spPr/>
        <p:txBody>
          <a:bodyPr/>
          <a:lstStyle/>
          <a:p>
            <a:fld id="{A671A442-F593-47BC-B30B-7A4E30DC514C}" type="slidenum">
              <a:rPr lang="en-US" smtClean="0"/>
              <a:t>12</a:t>
            </a:fld>
            <a:endParaRPr lang="en-US" dirty="0"/>
          </a:p>
        </p:txBody>
      </p:sp>
      <p:sp>
        <p:nvSpPr>
          <p:cNvPr id="4" name="TextBox 3">
            <a:extLst>
              <a:ext uri="{FF2B5EF4-FFF2-40B4-BE49-F238E27FC236}">
                <a16:creationId xmlns:a16="http://schemas.microsoft.com/office/drawing/2014/main" id="{034BAC34-2C38-C625-C3F8-8E09CC315ED1}"/>
              </a:ext>
            </a:extLst>
          </p:cNvPr>
          <p:cNvSpPr txBox="1"/>
          <p:nvPr/>
        </p:nvSpPr>
        <p:spPr>
          <a:xfrm>
            <a:off x="953966" y="1328057"/>
            <a:ext cx="1061509"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PostgreSQL</a:t>
            </a:r>
          </a:p>
        </p:txBody>
      </p:sp>
      <p:sp>
        <p:nvSpPr>
          <p:cNvPr id="5" name="Стрілка: вправо 4">
            <a:extLst>
              <a:ext uri="{FF2B5EF4-FFF2-40B4-BE49-F238E27FC236}">
                <a16:creationId xmlns:a16="http://schemas.microsoft.com/office/drawing/2014/main" id="{0EE0BB63-4E85-AB9B-0062-1FBF1A555FE0}"/>
              </a:ext>
            </a:extLst>
          </p:cNvPr>
          <p:cNvSpPr/>
          <p:nvPr/>
        </p:nvSpPr>
        <p:spPr>
          <a:xfrm>
            <a:off x="2149719" y="1426993"/>
            <a:ext cx="509954" cy="109904"/>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3E2E3ADA-81EC-5325-4CB6-5F5AADD511B9}"/>
              </a:ext>
            </a:extLst>
          </p:cNvPr>
          <p:cNvSpPr txBox="1"/>
          <p:nvPr/>
        </p:nvSpPr>
        <p:spPr>
          <a:xfrm>
            <a:off x="950885" y="1764145"/>
            <a:ext cx="623889"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Neo4j</a:t>
            </a:r>
          </a:p>
        </p:txBody>
      </p:sp>
      <p:sp>
        <p:nvSpPr>
          <p:cNvPr id="7" name="Стрілка: униз 6">
            <a:extLst>
              <a:ext uri="{FF2B5EF4-FFF2-40B4-BE49-F238E27FC236}">
                <a16:creationId xmlns:a16="http://schemas.microsoft.com/office/drawing/2014/main" id="{B30DE023-2697-2361-8376-CD64C3142ECB}"/>
              </a:ext>
            </a:extLst>
          </p:cNvPr>
          <p:cNvSpPr/>
          <p:nvPr/>
        </p:nvSpPr>
        <p:spPr>
          <a:xfrm>
            <a:off x="1217735" y="2110154"/>
            <a:ext cx="131884" cy="461596"/>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35097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15" name="Заголовок 14">
            <a:extLst>
              <a:ext uri="{FF2B5EF4-FFF2-40B4-BE49-F238E27FC236}">
                <a16:creationId xmlns:a16="http://schemas.microsoft.com/office/drawing/2014/main" id="{263B93F8-407C-20E8-E864-6FE2F6C2DD14}"/>
              </a:ext>
            </a:extLst>
          </p:cNvPr>
          <p:cNvSpPr>
            <a:spLocks noGrp="1"/>
          </p:cNvSpPr>
          <p:nvPr>
            <p:ph type="title"/>
          </p:nvPr>
        </p:nvSpPr>
        <p:spPr/>
        <p:txBody>
          <a:bodyPr/>
          <a:lstStyle/>
          <a:p>
            <a:pPr algn="l"/>
            <a:r>
              <a:rPr lang="uk-UA" sz="2400" dirty="0">
                <a:latin typeface="Times New Roman" panose="02020603050405020304" pitchFamily="18" charset="0"/>
                <a:cs typeface="Times New Roman" panose="02020603050405020304" pitchFamily="18" charset="0"/>
              </a:rPr>
              <a:t>Інтерфейс користувача</a:t>
            </a:r>
            <a:endParaRPr lang="en-US" sz="24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2014D3B7-4670-8D6B-1652-4719FA421694}"/>
              </a:ext>
            </a:extLst>
          </p:cNvPr>
          <p:cNvPicPr>
            <a:picLocks noChangeAspect="1"/>
          </p:cNvPicPr>
          <p:nvPr/>
        </p:nvPicPr>
        <p:blipFill>
          <a:blip r:embed="rId3"/>
          <a:stretch>
            <a:fillRect/>
          </a:stretch>
        </p:blipFill>
        <p:spPr>
          <a:xfrm>
            <a:off x="419716" y="1134207"/>
            <a:ext cx="2969179" cy="2875085"/>
          </a:xfrm>
          <a:prstGeom prst="rect">
            <a:avLst/>
          </a:prstGeom>
        </p:spPr>
      </p:pic>
      <p:pic>
        <p:nvPicPr>
          <p:cNvPr id="20" name="Рисунок 19">
            <a:extLst>
              <a:ext uri="{FF2B5EF4-FFF2-40B4-BE49-F238E27FC236}">
                <a16:creationId xmlns:a16="http://schemas.microsoft.com/office/drawing/2014/main" id="{B5F91AC6-A150-A0F3-5037-BA0AE474A151}"/>
              </a:ext>
            </a:extLst>
          </p:cNvPr>
          <p:cNvPicPr>
            <a:picLocks noChangeAspect="1"/>
          </p:cNvPicPr>
          <p:nvPr/>
        </p:nvPicPr>
        <p:blipFill>
          <a:blip r:embed="rId4"/>
          <a:stretch>
            <a:fillRect/>
          </a:stretch>
        </p:blipFill>
        <p:spPr>
          <a:xfrm>
            <a:off x="3528135" y="1935332"/>
            <a:ext cx="2422879" cy="3040602"/>
          </a:xfrm>
          <a:prstGeom prst="rect">
            <a:avLst/>
          </a:prstGeom>
        </p:spPr>
      </p:pic>
      <p:pic>
        <p:nvPicPr>
          <p:cNvPr id="22" name="Рисунок 21">
            <a:extLst>
              <a:ext uri="{FF2B5EF4-FFF2-40B4-BE49-F238E27FC236}">
                <a16:creationId xmlns:a16="http://schemas.microsoft.com/office/drawing/2014/main" id="{C5E100EC-4E5B-DE0E-09BC-686C2DFF8870}"/>
              </a:ext>
            </a:extLst>
          </p:cNvPr>
          <p:cNvPicPr>
            <a:picLocks noChangeAspect="1"/>
          </p:cNvPicPr>
          <p:nvPr/>
        </p:nvPicPr>
        <p:blipFill>
          <a:blip r:embed="rId5"/>
          <a:stretch>
            <a:fillRect/>
          </a:stretch>
        </p:blipFill>
        <p:spPr>
          <a:xfrm>
            <a:off x="6014327" y="614779"/>
            <a:ext cx="3048988" cy="2840854"/>
          </a:xfrm>
          <a:prstGeom prst="rect">
            <a:avLst/>
          </a:prstGeom>
        </p:spPr>
      </p:pic>
      <p:sp>
        <p:nvSpPr>
          <p:cNvPr id="2" name="Місце для номера слайда 1">
            <a:extLst>
              <a:ext uri="{FF2B5EF4-FFF2-40B4-BE49-F238E27FC236}">
                <a16:creationId xmlns:a16="http://schemas.microsoft.com/office/drawing/2014/main" id="{4D6B7347-6542-2622-6C6D-CA2F4C2A0231}"/>
              </a:ext>
            </a:extLst>
          </p:cNvPr>
          <p:cNvSpPr>
            <a:spLocks noGrp="1"/>
          </p:cNvSpPr>
          <p:nvPr>
            <p:ph type="sldNum" sz="quarter" idx="17"/>
          </p:nvPr>
        </p:nvSpPr>
        <p:spPr/>
        <p:txBody>
          <a:bodyPr/>
          <a:lstStyle/>
          <a:p>
            <a:fld id="{A671A442-F593-47BC-B30B-7A4E30DC514C}" type="slidenum">
              <a:rPr lang="en-US" smtClean="0"/>
              <a:t>13</a:t>
            </a:fld>
            <a:endParaRPr lang="en-US" dirty="0"/>
          </a:p>
        </p:txBody>
      </p:sp>
    </p:spTree>
    <p:extLst>
      <p:ext uri="{BB962C8B-B14F-4D97-AF65-F5344CB8AC3E}">
        <p14:creationId xmlns:p14="http://schemas.microsoft.com/office/powerpoint/2010/main" val="301364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Заголовок 14">
            <a:extLst>
              <a:ext uri="{FF2B5EF4-FFF2-40B4-BE49-F238E27FC236}">
                <a16:creationId xmlns:a16="http://schemas.microsoft.com/office/drawing/2014/main" id="{E3383ED9-3C5A-5E7F-4DE6-37391DF2EEAC}"/>
              </a:ext>
            </a:extLst>
          </p:cNvPr>
          <p:cNvSpPr>
            <a:spLocks noGrp="1"/>
          </p:cNvSpPr>
          <p:nvPr>
            <p:ph type="title"/>
          </p:nvPr>
        </p:nvSpPr>
        <p:spPr>
          <a:xfrm>
            <a:off x="713225" y="470650"/>
            <a:ext cx="7717500" cy="549900"/>
          </a:xfrm>
        </p:spPr>
        <p:txBody>
          <a:bodyPr/>
          <a:lstStyle/>
          <a:p>
            <a:pPr algn="l"/>
            <a:r>
              <a:rPr lang="uk-UA" dirty="0">
                <a:latin typeface="Times New Roman" panose="02020603050405020304" pitchFamily="18" charset="0"/>
                <a:cs typeface="Times New Roman" panose="02020603050405020304" pitchFamily="18" charset="0"/>
              </a:rPr>
              <a:t>Модульне та інтеграційне тестування</a:t>
            </a:r>
            <a:endParaRPr lang="en-US" dirty="0">
              <a:latin typeface="Times New Roman" panose="02020603050405020304" pitchFamily="18" charset="0"/>
              <a:cs typeface="Times New Roman" panose="02020603050405020304" pitchFamily="18" charset="0"/>
            </a:endParaRPr>
          </a:p>
        </p:txBody>
      </p:sp>
      <p:sp>
        <p:nvSpPr>
          <p:cNvPr id="17" name="Google Shape;527;p55">
            <a:extLst>
              <a:ext uri="{FF2B5EF4-FFF2-40B4-BE49-F238E27FC236}">
                <a16:creationId xmlns:a16="http://schemas.microsoft.com/office/drawing/2014/main" id="{66E2C611-DD82-5C73-C38E-9CC258518D69}"/>
              </a:ext>
            </a:extLst>
          </p:cNvPr>
          <p:cNvSpPr txBox="1">
            <a:spLocks noGrp="1"/>
          </p:cNvSpPr>
          <p:nvPr>
            <p:ph type="subTitle" idx="1"/>
          </p:nvPr>
        </p:nvSpPr>
        <p:spPr>
          <a:xfrm>
            <a:off x="636206" y="2952893"/>
            <a:ext cx="7527451" cy="12762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ru-RU" dirty="0">
                <a:latin typeface="Times New Roman" panose="02020603050405020304" pitchFamily="18" charset="0"/>
                <a:cs typeface="Times New Roman" panose="02020603050405020304" pitchFamily="18" charset="0"/>
              </a:rPr>
              <a:t>Проведено тестування із використанням фреймворку </a:t>
            </a:r>
            <a:r>
              <a:rPr lang="en-US" dirty="0">
                <a:latin typeface="Times New Roman" panose="02020603050405020304" pitchFamily="18" charset="0"/>
                <a:cs typeface="Times New Roman" panose="02020603050405020304" pitchFamily="18" charset="0"/>
              </a:rPr>
              <a:t>xUnit:</a:t>
            </a:r>
            <a:endParaRPr lang="uk-UA" dirty="0">
              <a:latin typeface="Times New Roman" panose="02020603050405020304" pitchFamily="18" charset="0"/>
              <a:cs typeface="Times New Roman" panose="02020603050405020304" pitchFamily="18" charset="0"/>
            </a:endParaRPr>
          </a:p>
          <a:p>
            <a:pPr marL="285750" lvl="0" indent="-285750" algn="l" rtl="0">
              <a:spcBef>
                <a:spcPts val="0"/>
              </a:spcBef>
              <a:spcAft>
                <a:spcPts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39 </a:t>
            </a:r>
            <a:r>
              <a:rPr lang="ru-RU" dirty="0">
                <a:latin typeface="Times New Roman" panose="02020603050405020304" pitchFamily="18" charset="0"/>
                <a:cs typeface="Times New Roman" panose="02020603050405020304" pitchFamily="18" charset="0"/>
              </a:rPr>
              <a:t>модульних тестів для перевірки основного функціоналу системи;</a:t>
            </a:r>
          </a:p>
          <a:p>
            <a:pPr marL="285750" lvl="0" indent="-285750" algn="l" rtl="0">
              <a:spcBef>
                <a:spcPts val="0"/>
              </a:spcBef>
              <a:spcAft>
                <a:spcPts val="0"/>
              </a:spcAft>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27 інтеграційних тестів для перевірки взаємодії компонентів платформи.</a:t>
            </a:r>
          </a:p>
          <a:p>
            <a:pPr marL="285750" lvl="0" indent="-285750" algn="l" rtl="0">
              <a:spcBef>
                <a:spcPts val="0"/>
              </a:spcBef>
              <a:spcAft>
                <a:spcPts val="0"/>
              </a:spcAft>
              <a:buFont typeface="Arial" panose="020B0604020202020204" pitchFamily="34" charset="0"/>
              <a:buChar char="•"/>
            </a:pPr>
            <a:endParaRPr lang="ru-RU" dirty="0">
              <a:latin typeface="Times New Roman" panose="02020603050405020304" pitchFamily="18" charset="0"/>
              <a:cs typeface="Times New Roman" panose="02020603050405020304" pitchFamily="18" charset="0"/>
            </a:endParaRPr>
          </a:p>
          <a:p>
            <a:pPr marL="0" lvl="0" indent="0" algn="l" rtl="0">
              <a:spcBef>
                <a:spcPts val="0"/>
              </a:spcBef>
              <a:spcAft>
                <a:spcPts val="0"/>
              </a:spcAft>
            </a:pPr>
            <a:r>
              <a:rPr lang="ru-RU" dirty="0">
                <a:latin typeface="Times New Roman" panose="02020603050405020304" pitchFamily="18" charset="0"/>
                <a:cs typeface="Times New Roman" panose="02020603050405020304" pitchFamily="18" charset="0"/>
              </a:rPr>
              <a:t>Усі тести виконано успішно.</a:t>
            </a:r>
          </a:p>
        </p:txBody>
      </p:sp>
      <p:pic>
        <p:nvPicPr>
          <p:cNvPr id="2" name="Рисунок 1">
            <a:extLst>
              <a:ext uri="{FF2B5EF4-FFF2-40B4-BE49-F238E27FC236}">
                <a16:creationId xmlns:a16="http://schemas.microsoft.com/office/drawing/2014/main" id="{2550005F-E806-8A89-6DE4-61F1D10E8D7F}"/>
              </a:ext>
            </a:extLst>
          </p:cNvPr>
          <p:cNvPicPr>
            <a:picLocks noChangeAspect="1"/>
          </p:cNvPicPr>
          <p:nvPr/>
        </p:nvPicPr>
        <p:blipFill>
          <a:blip r:embed="rId2"/>
          <a:stretch>
            <a:fillRect/>
          </a:stretch>
        </p:blipFill>
        <p:spPr>
          <a:xfrm>
            <a:off x="4809393" y="1606062"/>
            <a:ext cx="3965329" cy="1141534"/>
          </a:xfrm>
          <a:prstGeom prst="rect">
            <a:avLst/>
          </a:prstGeom>
        </p:spPr>
      </p:pic>
      <p:pic>
        <p:nvPicPr>
          <p:cNvPr id="3" name="Рисунок 2">
            <a:extLst>
              <a:ext uri="{FF2B5EF4-FFF2-40B4-BE49-F238E27FC236}">
                <a16:creationId xmlns:a16="http://schemas.microsoft.com/office/drawing/2014/main" id="{AAD91DB7-1C21-A26A-B22A-6FE0E9E57F2E}"/>
              </a:ext>
            </a:extLst>
          </p:cNvPr>
          <p:cNvPicPr>
            <a:picLocks noChangeAspect="1"/>
          </p:cNvPicPr>
          <p:nvPr/>
        </p:nvPicPr>
        <p:blipFill>
          <a:blip r:embed="rId3"/>
          <a:stretch>
            <a:fillRect/>
          </a:stretch>
        </p:blipFill>
        <p:spPr>
          <a:xfrm>
            <a:off x="1533816" y="1606061"/>
            <a:ext cx="3082146" cy="1141535"/>
          </a:xfrm>
          <a:prstGeom prst="rect">
            <a:avLst/>
          </a:prstGeom>
        </p:spPr>
      </p:pic>
      <p:sp>
        <p:nvSpPr>
          <p:cNvPr id="4" name="Місце для номера слайда 3">
            <a:extLst>
              <a:ext uri="{FF2B5EF4-FFF2-40B4-BE49-F238E27FC236}">
                <a16:creationId xmlns:a16="http://schemas.microsoft.com/office/drawing/2014/main" id="{492E3F2E-DEBC-4D36-F95F-7F15E2F0A421}"/>
              </a:ext>
            </a:extLst>
          </p:cNvPr>
          <p:cNvSpPr>
            <a:spLocks noGrp="1"/>
          </p:cNvSpPr>
          <p:nvPr>
            <p:ph type="sldNum" sz="quarter" idx="17"/>
          </p:nvPr>
        </p:nvSpPr>
        <p:spPr/>
        <p:txBody>
          <a:bodyPr/>
          <a:lstStyle/>
          <a:p>
            <a:fld id="{A671A442-F593-47BC-B30B-7A4E30DC514C}" type="slidenum">
              <a:rPr lang="en-US" smtClean="0"/>
              <a:t>14</a:t>
            </a:fld>
            <a:endParaRPr lang="en-US" dirty="0"/>
          </a:p>
        </p:txBody>
      </p:sp>
    </p:spTree>
    <p:extLst>
      <p:ext uri="{BB962C8B-B14F-4D97-AF65-F5344CB8AC3E}">
        <p14:creationId xmlns:p14="http://schemas.microsoft.com/office/powerpoint/2010/main" val="2953554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Заголовок 14">
            <a:extLst>
              <a:ext uri="{FF2B5EF4-FFF2-40B4-BE49-F238E27FC236}">
                <a16:creationId xmlns:a16="http://schemas.microsoft.com/office/drawing/2014/main" id="{E3383ED9-3C5A-5E7F-4DE6-37391DF2EEAC}"/>
              </a:ext>
            </a:extLst>
          </p:cNvPr>
          <p:cNvSpPr>
            <a:spLocks noGrp="1"/>
          </p:cNvSpPr>
          <p:nvPr>
            <p:ph type="title"/>
          </p:nvPr>
        </p:nvSpPr>
        <p:spPr>
          <a:xfrm>
            <a:off x="713225" y="470650"/>
            <a:ext cx="7717500" cy="549900"/>
          </a:xfrm>
        </p:spPr>
        <p:txBody>
          <a:bodyPr/>
          <a:lstStyle/>
          <a:p>
            <a:pPr algn="l"/>
            <a:r>
              <a:rPr lang="uk-UA" dirty="0">
                <a:latin typeface="Times New Roman" panose="02020603050405020304" pitchFamily="18" charset="0"/>
                <a:cs typeface="Times New Roman" panose="02020603050405020304" pitchFamily="18" charset="0"/>
              </a:rPr>
              <a:t>Тестування навантаженням</a:t>
            </a:r>
            <a:endParaRPr lang="en-US" dirty="0">
              <a:latin typeface="Times New Roman" panose="02020603050405020304" pitchFamily="18" charset="0"/>
              <a:cs typeface="Times New Roman" panose="02020603050405020304" pitchFamily="18" charset="0"/>
            </a:endParaRPr>
          </a:p>
        </p:txBody>
      </p:sp>
      <p:pic>
        <p:nvPicPr>
          <p:cNvPr id="16" name="Рисунок 15">
            <a:extLst>
              <a:ext uri="{FF2B5EF4-FFF2-40B4-BE49-F238E27FC236}">
                <a16:creationId xmlns:a16="http://schemas.microsoft.com/office/drawing/2014/main" id="{85AEA2CB-6CF1-8048-DDDF-DDFCBAAA8C01}"/>
              </a:ext>
            </a:extLst>
          </p:cNvPr>
          <p:cNvPicPr>
            <a:picLocks noChangeAspect="1"/>
          </p:cNvPicPr>
          <p:nvPr/>
        </p:nvPicPr>
        <p:blipFill>
          <a:blip r:embed="rId2"/>
          <a:stretch>
            <a:fillRect/>
          </a:stretch>
        </p:blipFill>
        <p:spPr>
          <a:xfrm>
            <a:off x="1823993" y="1285378"/>
            <a:ext cx="4881431" cy="1484455"/>
          </a:xfrm>
          <a:prstGeom prst="rect">
            <a:avLst/>
          </a:prstGeom>
        </p:spPr>
      </p:pic>
      <p:sp>
        <p:nvSpPr>
          <p:cNvPr id="17" name="Google Shape;527;p55">
            <a:extLst>
              <a:ext uri="{FF2B5EF4-FFF2-40B4-BE49-F238E27FC236}">
                <a16:creationId xmlns:a16="http://schemas.microsoft.com/office/drawing/2014/main" id="{66E2C611-DD82-5C73-C38E-9CC258518D69}"/>
              </a:ext>
            </a:extLst>
          </p:cNvPr>
          <p:cNvSpPr txBox="1">
            <a:spLocks noGrp="1"/>
          </p:cNvSpPr>
          <p:nvPr>
            <p:ph type="subTitle" idx="1"/>
          </p:nvPr>
        </p:nvSpPr>
        <p:spPr>
          <a:xfrm>
            <a:off x="636206" y="2952893"/>
            <a:ext cx="7527451" cy="12762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ru-RU" dirty="0">
                <a:latin typeface="Times New Roman" panose="02020603050405020304" pitchFamily="18" charset="0"/>
                <a:cs typeface="Times New Roman" panose="02020603050405020304" pitchFamily="18" charset="0"/>
              </a:rPr>
              <a:t>Було проведено навантажувальне тестування програмної платформи з використанням 1000 одночасних віртуальних користувачів протягом 30 секунд. За цей час система обробила 134 993 запити із продуктивністю 4472 запити за секунду. Середній час відповіді серверної частини склав 222 мс, що підтверджує здатність системи стабільно працювати під значним навантаженням.</a:t>
            </a:r>
          </a:p>
        </p:txBody>
      </p:sp>
      <p:sp>
        <p:nvSpPr>
          <p:cNvPr id="2" name="Місце для номера слайда 1">
            <a:extLst>
              <a:ext uri="{FF2B5EF4-FFF2-40B4-BE49-F238E27FC236}">
                <a16:creationId xmlns:a16="http://schemas.microsoft.com/office/drawing/2014/main" id="{F09C5F8D-6C8A-C540-652E-9F7E585415ED}"/>
              </a:ext>
            </a:extLst>
          </p:cNvPr>
          <p:cNvSpPr>
            <a:spLocks noGrp="1"/>
          </p:cNvSpPr>
          <p:nvPr>
            <p:ph type="sldNum" sz="quarter" idx="17"/>
          </p:nvPr>
        </p:nvSpPr>
        <p:spPr/>
        <p:txBody>
          <a:bodyPr/>
          <a:lstStyle/>
          <a:p>
            <a:fld id="{A671A442-F593-47BC-B30B-7A4E30DC514C}" type="slidenum">
              <a:rPr lang="en-US" smtClean="0"/>
              <a:t>15</a:t>
            </a:fld>
            <a:endParaRPr lang="en-US" dirty="0"/>
          </a:p>
        </p:txBody>
      </p:sp>
    </p:spTree>
    <p:extLst>
      <p:ext uri="{BB962C8B-B14F-4D97-AF65-F5344CB8AC3E}">
        <p14:creationId xmlns:p14="http://schemas.microsoft.com/office/powerpoint/2010/main" val="277659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номера слайда 1">
            <a:extLst>
              <a:ext uri="{FF2B5EF4-FFF2-40B4-BE49-F238E27FC236}">
                <a16:creationId xmlns:a16="http://schemas.microsoft.com/office/drawing/2014/main" id="{4A8C7A14-ED88-3215-08FB-A3032D2B15BD}"/>
              </a:ext>
            </a:extLst>
          </p:cNvPr>
          <p:cNvSpPr>
            <a:spLocks noGrp="1"/>
          </p:cNvSpPr>
          <p:nvPr>
            <p:ph type="sldNum" sz="quarter" idx="17"/>
          </p:nvPr>
        </p:nvSpPr>
        <p:spPr/>
        <p:txBody>
          <a:bodyPr/>
          <a:lstStyle/>
          <a:p>
            <a:fld id="{A671A442-F593-47BC-B30B-7A4E30DC514C}" type="slidenum">
              <a:rPr lang="en-US" smtClean="0"/>
              <a:t>16</a:t>
            </a:fld>
            <a:endParaRPr lang="en-US" dirty="0"/>
          </a:p>
        </p:txBody>
      </p:sp>
      <p:sp>
        <p:nvSpPr>
          <p:cNvPr id="12" name="Заголовок 14">
            <a:extLst>
              <a:ext uri="{FF2B5EF4-FFF2-40B4-BE49-F238E27FC236}">
                <a16:creationId xmlns:a16="http://schemas.microsoft.com/office/drawing/2014/main" id="{28381636-66A5-6501-63DF-D5A56319AC45}"/>
              </a:ext>
            </a:extLst>
          </p:cNvPr>
          <p:cNvSpPr>
            <a:spLocks noGrp="1"/>
          </p:cNvSpPr>
          <p:nvPr>
            <p:ph type="title"/>
          </p:nvPr>
        </p:nvSpPr>
        <p:spPr>
          <a:xfrm>
            <a:off x="713225" y="470650"/>
            <a:ext cx="7717500" cy="549900"/>
          </a:xfrm>
        </p:spPr>
        <p:txBody>
          <a:bodyPr/>
          <a:lstStyle/>
          <a:p>
            <a:pPr algn="l"/>
            <a:r>
              <a:rPr lang="uk-UA" dirty="0">
                <a:latin typeface="Times New Roman" panose="02020603050405020304" pitchFamily="18" charset="0"/>
                <a:cs typeface="Times New Roman" panose="02020603050405020304" pitchFamily="18" charset="0"/>
              </a:rPr>
              <a:t>Підсумок</a:t>
            </a:r>
            <a:endParaRPr lang="en-US" dirty="0">
              <a:latin typeface="Times New Roman" panose="02020603050405020304" pitchFamily="18" charset="0"/>
              <a:cs typeface="Times New Roman" panose="02020603050405020304" pitchFamily="18" charset="0"/>
            </a:endParaRPr>
          </a:p>
        </p:txBody>
      </p:sp>
      <p:sp>
        <p:nvSpPr>
          <p:cNvPr id="13" name="Google Shape;527;p55">
            <a:extLst>
              <a:ext uri="{FF2B5EF4-FFF2-40B4-BE49-F238E27FC236}">
                <a16:creationId xmlns:a16="http://schemas.microsoft.com/office/drawing/2014/main" id="{6C304C16-687A-9DBA-11B4-A0C02AB6E6FC}"/>
              </a:ext>
            </a:extLst>
          </p:cNvPr>
          <p:cNvSpPr txBox="1">
            <a:spLocks noGrp="1"/>
          </p:cNvSpPr>
          <p:nvPr>
            <p:ph type="subTitle" idx="1"/>
          </p:nvPr>
        </p:nvSpPr>
        <p:spPr>
          <a:xfrm>
            <a:off x="583452" y="1374674"/>
            <a:ext cx="5991520" cy="35797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uk-UA" dirty="0">
                <a:latin typeface="Times New Roman" panose="02020603050405020304" pitchFamily="18" charset="0"/>
                <a:cs typeface="Times New Roman" panose="02020603050405020304" pitchFamily="18" charset="0"/>
              </a:rPr>
              <a:t>У результаті виконання роботи було розроблено програмну платформу соціальної взаємодії, яка забезпечує створення та поширення контенту, взаємодію між користувачами, персоналізовані рекомендації та модерацію публікацій.</a:t>
            </a:r>
          </a:p>
          <a:p>
            <a:pPr marL="0" lvl="0" indent="0" algn="l" rtl="0">
              <a:spcBef>
                <a:spcPts val="0"/>
              </a:spcBef>
              <a:spcAft>
                <a:spcPts val="0"/>
              </a:spcAft>
            </a:pPr>
            <a:r>
              <a:rPr lang="uk-UA" dirty="0">
                <a:latin typeface="Times New Roman" panose="02020603050405020304" pitchFamily="18" charset="0"/>
                <a:cs typeface="Times New Roman" panose="02020603050405020304" pitchFamily="18" charset="0"/>
              </a:rPr>
              <a:t>У системі реалізовано механізми генерації тегів, модерації контенту та рекомендацій. Проведене модульне, інтеграційне та навантажувальне тестування підтвердило коректність роботи та продуктивність платформи.</a:t>
            </a:r>
          </a:p>
          <a:p>
            <a:pPr marL="0" lvl="0" indent="0" algn="l" rtl="0">
              <a:spcBef>
                <a:spcPts val="0"/>
              </a:spcBef>
              <a:spcAft>
                <a:spcPts val="0"/>
              </a:spcAft>
            </a:pPr>
            <a:endParaRPr lang="uk-UA" dirty="0">
              <a:latin typeface="Times New Roman" panose="02020603050405020304" pitchFamily="18" charset="0"/>
              <a:cs typeface="Times New Roman" panose="02020603050405020304" pitchFamily="18" charset="0"/>
            </a:endParaRPr>
          </a:p>
          <a:p>
            <a:pPr marL="0" lvl="0" indent="0" algn="l" rtl="0">
              <a:spcBef>
                <a:spcPts val="0"/>
              </a:spcBef>
              <a:spcAft>
                <a:spcPts val="0"/>
              </a:spcAft>
            </a:pPr>
            <a:r>
              <a:rPr lang="uk-UA" dirty="0">
                <a:latin typeface="Times New Roman" panose="02020603050405020304" pitchFamily="18" charset="0"/>
                <a:cs typeface="Times New Roman" panose="02020603050405020304" pitchFamily="18" charset="0"/>
              </a:rPr>
              <a:t>Перспективи розвитку:</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розробка мобільного застосунку;</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удосконалення алгоритмів рекомендацій на основі ШІ;</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впровадження системи спільнот та тематичних груп;</a:t>
            </a:r>
          </a:p>
          <a:p>
            <a:pPr marL="285750" lvl="0" indent="-285750" algn="l" rtl="0">
              <a:spcBef>
                <a:spcPts val="0"/>
              </a:spcBef>
              <a:spcAft>
                <a:spcPts val="0"/>
              </a:spcAft>
              <a:buFont typeface="Arial" panose="020B0604020202020204" pitchFamily="34" charset="0"/>
              <a:buChar char="•"/>
            </a:pPr>
            <a:r>
              <a:rPr lang="uk-UA" dirty="0">
                <a:latin typeface="Times New Roman" panose="02020603050405020304" pitchFamily="18" charset="0"/>
                <a:cs typeface="Times New Roman" panose="02020603050405020304" pitchFamily="18" charset="0"/>
              </a:rPr>
              <a:t>розширення аналітики для авторів контенту.</a:t>
            </a:r>
          </a:p>
        </p:txBody>
      </p:sp>
      <p:pic>
        <p:nvPicPr>
          <p:cNvPr id="14" name="Рисунок 13">
            <a:extLst>
              <a:ext uri="{FF2B5EF4-FFF2-40B4-BE49-F238E27FC236}">
                <a16:creationId xmlns:a16="http://schemas.microsoft.com/office/drawing/2014/main" id="{268CBF0A-A63C-3B41-90CB-283D4F4EB81D}"/>
              </a:ext>
            </a:extLst>
          </p:cNvPr>
          <p:cNvPicPr>
            <a:picLocks noChangeAspect="1"/>
          </p:cNvPicPr>
          <p:nvPr/>
        </p:nvPicPr>
        <p:blipFill rotWithShape="1">
          <a:blip r:embed="rId2"/>
          <a:srcRect t="56867"/>
          <a:stretch/>
        </p:blipFill>
        <p:spPr>
          <a:xfrm>
            <a:off x="6212115" y="4129225"/>
            <a:ext cx="2924418" cy="1087250"/>
          </a:xfrm>
          <a:prstGeom prst="rect">
            <a:avLst/>
          </a:prstGeom>
          <a:ln>
            <a:solidFill>
              <a:schemeClr val="tx1"/>
            </a:solidFill>
          </a:ln>
        </p:spPr>
      </p:pic>
      <p:pic>
        <p:nvPicPr>
          <p:cNvPr id="16" name="Рисунок 15">
            <a:extLst>
              <a:ext uri="{FF2B5EF4-FFF2-40B4-BE49-F238E27FC236}">
                <a16:creationId xmlns:a16="http://schemas.microsoft.com/office/drawing/2014/main" id="{8407A9B3-8A19-2DF0-8234-F832D6DEC35A}"/>
              </a:ext>
            </a:extLst>
          </p:cNvPr>
          <p:cNvPicPr>
            <a:picLocks noChangeAspect="1"/>
          </p:cNvPicPr>
          <p:nvPr/>
        </p:nvPicPr>
        <p:blipFill>
          <a:blip r:embed="rId3"/>
          <a:stretch>
            <a:fillRect/>
          </a:stretch>
        </p:blipFill>
        <p:spPr>
          <a:xfrm>
            <a:off x="6792971" y="1"/>
            <a:ext cx="2298899" cy="3233974"/>
          </a:xfrm>
          <a:prstGeom prst="rect">
            <a:avLst/>
          </a:prstGeom>
        </p:spPr>
      </p:pic>
      <p:pic>
        <p:nvPicPr>
          <p:cNvPr id="17" name="Рисунок 16">
            <a:extLst>
              <a:ext uri="{FF2B5EF4-FFF2-40B4-BE49-F238E27FC236}">
                <a16:creationId xmlns:a16="http://schemas.microsoft.com/office/drawing/2014/main" id="{1F08834B-D1F0-ECAD-576D-CF96B62DD5F7}"/>
              </a:ext>
            </a:extLst>
          </p:cNvPr>
          <p:cNvPicPr>
            <a:picLocks noChangeAspect="1"/>
          </p:cNvPicPr>
          <p:nvPr/>
        </p:nvPicPr>
        <p:blipFill rotWithShape="1">
          <a:blip r:embed="rId2"/>
          <a:srcRect b="63750"/>
          <a:stretch/>
        </p:blipFill>
        <p:spPr>
          <a:xfrm>
            <a:off x="6212115" y="3192292"/>
            <a:ext cx="2924418" cy="913747"/>
          </a:xfrm>
          <a:prstGeom prst="rect">
            <a:avLst/>
          </a:prstGeom>
          <a:ln>
            <a:solidFill>
              <a:schemeClr val="tx1"/>
            </a:solidFill>
          </a:ln>
        </p:spPr>
      </p:pic>
    </p:spTree>
    <p:extLst>
      <p:ext uri="{BB962C8B-B14F-4D97-AF65-F5344CB8AC3E}">
        <p14:creationId xmlns:p14="http://schemas.microsoft.com/office/powerpoint/2010/main" val="2279308249"/>
      </p:ext>
    </p:extLst>
  </p:cSld>
  <p:clrMapOvr>
    <a:masterClrMapping/>
  </p:clrMapOvr>
</p:sld>
</file>

<file path=ppt/theme/theme1.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476</TotalTime>
  <Words>930</Words>
  <Application>Microsoft Office PowerPoint</Application>
  <PresentationFormat>Екран (16:9)</PresentationFormat>
  <Paragraphs>159</Paragraphs>
  <Slides>16</Slides>
  <Notes>9</Notes>
  <HiddenSlides>0</HiddenSlides>
  <MMClips>0</MMClips>
  <ScaleCrop>false</ScaleCrop>
  <HeadingPairs>
    <vt:vector size="6" baseType="variant">
      <vt:variant>
        <vt:lpstr>Використані шрифти</vt:lpstr>
      </vt:variant>
      <vt:variant>
        <vt:i4>6</vt:i4>
      </vt:variant>
      <vt:variant>
        <vt:lpstr>Тема</vt:lpstr>
      </vt:variant>
      <vt:variant>
        <vt:i4>1</vt:i4>
      </vt:variant>
      <vt:variant>
        <vt:lpstr>Заголовки слайдів</vt:lpstr>
      </vt:variant>
      <vt:variant>
        <vt:i4>16</vt:i4>
      </vt:variant>
    </vt:vector>
  </HeadingPairs>
  <TitlesOfParts>
    <vt:vector size="23" baseType="lpstr">
      <vt:lpstr>Golos Text SemiBold</vt:lpstr>
      <vt:lpstr>Montserrat SemiBold</vt:lpstr>
      <vt:lpstr>Arial</vt:lpstr>
      <vt:lpstr>Commissioner</vt:lpstr>
      <vt:lpstr>Times New Roman</vt:lpstr>
      <vt:lpstr>Golos Text</vt:lpstr>
      <vt:lpstr>Formulating a Research Problem for University Students by Slidesgo</vt:lpstr>
      <vt:lpstr>Програмна платформа для соціальної взаємодії з гібридним алгоритмом рекомендацій та функціональністю контент-менеджменту і модерації</vt:lpstr>
      <vt:lpstr>Мета роботи</vt:lpstr>
      <vt:lpstr>Аналіз проблеми</vt:lpstr>
      <vt:lpstr>Аналіз конкурентів</vt:lpstr>
      <vt:lpstr>Постановка задачі</vt:lpstr>
      <vt:lpstr>Use-Case Діаграма Основних Дій Користувача</vt:lpstr>
      <vt:lpstr>Використані технології</vt:lpstr>
      <vt:lpstr>Архітектура програмної платформи</vt:lpstr>
      <vt:lpstr>Архітектура серверної частини</vt:lpstr>
      <vt:lpstr>Алгоритм рекомендацій</vt:lpstr>
      <vt:lpstr>Генерація тегів за допомогою NLP</vt:lpstr>
      <vt:lpstr>ER-діаграми</vt:lpstr>
      <vt:lpstr>Інтерфейс користувача</vt:lpstr>
      <vt:lpstr>Модульне та інтеграційне тестування</vt:lpstr>
      <vt:lpstr>Тестування навантаженням</vt:lpstr>
      <vt:lpstr>Підсумок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Програмна платформа для соціальної взаємодії з гібридним алгоритмом рекомендацій та функціональністю контент-менеджменту і модерації</dc:title>
  <dc:creator>kirikosha</dc:creator>
  <cp:lastModifiedBy>Білецький Данило</cp:lastModifiedBy>
  <cp:revision>35</cp:revision>
  <dcterms:modified xsi:type="dcterms:W3CDTF">2026-07-02T16:12:09Z</dcterms:modified>
</cp:coreProperties>
</file>